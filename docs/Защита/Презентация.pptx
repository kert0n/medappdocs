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Navigo" panose="02070503070706040303" pitchFamily="34" charset="0"/>
      <p:regular r:id="rIdFont1"/>
    </p:embeddedFont>
    <p:embeddedFont>
      <p:font typeface="Roboto" panose="02000000000000000000" pitchFamily="34" charset="0"/>
      <p:regular r:id="rIdFont2"/>
      <p:bold r:id="rIdFont3"/>
    </p:embeddedFont>
    <p:embeddedFont>
      <p:font typeface="Roboto Medium" panose="02000000000000000000" pitchFamily="34" charset="0"/>
      <p:regular r:id="rIdFont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Меня зовут Никита Волошин, группа БПИ245. Представляю индивидуальный программный проект «Приложение для Android „Органайзер лекарств“». Научный руководитель: Елена Юрьевна Песоцкая, кандидат экономических наук, доцент департамента программной инженерии.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того, как это выглядит в жизни. Невролог назначил мне нурофен: три раза в день, двадцать приёмов. Пачки у меня три: начатая дома, запасная на даче и одна в рюкзаке. И вопрос «есть ли нурофен» ничего не даёт: важно, из какой пачки я буду принимать, сколько в ней осталось и не кончится ли срок раньше курса.
А берут из этих пачек не только я: дома семья, на даче соседи. Мой курс рассчитан на пачку, которую может допить кто-то другой, и курс об этом не узнает. Запас общий, а лечение личное.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это не только моя история. Около половины пациентов с хроническими заболеваниями не соблюдают назначенную терапию; это подтверждает обзор систематических обзоров 2025 года.
Самый очевидный ответ — напоминания, таких приложений много. Но напоминание не поможет, если таблетки нет на месте, а запас дома почти всегда общий: 85 процентов держат лекарства дома, и больше половины нуждаются в них постоянно. Напоминать мало, нужно заранее знать, хватит ли общего запаса на курс.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Поэтому цель — приложение, которое ведёт учёт по пачкам и местам, лечение по этим пачкам и общий запас нескольких людей, не передавая о них персональных данных. Задачи на слайде, от анализа до документации по ЕСПД. Выделю две трудные: вести курс, который неделями берёт дозы из разных пачек, и договариваться об одной пачке между телефонами так, чтобы сервер не знал, кто чем лечится.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Похожие приложения есть, я сравнил три. «Домашняя аптечка» хорошая, но для одного человека: база уходит файлом на Яндекс.Диск, и при одновременной правке побеждает последний. «Аптечка. Учёт медикаментов» делает семейную аптечку платной для каждого. mojApteczka богаче возможностями, но держит все лекарства и приёмы у себя.
Ни одно не ведёт курс по нескольким пачкам и не бронирует под него запас. И ни одно не даёт общую аптечку, за которую не нужно платить своими данными.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взяты из ТЗ, пункты на слайде. Функциональные читаются просто: учёт и лечение работают на телефоне без интернета, а сеть добавляет три вещи — общие аптечки, справочник препаратов и данные «Честного знака».
Самое важное требование справа, это приватность. В ТЗ оно узкое: сервер не хранит имён и контактов. Но человека выдаёт и то, что и когда он принимает; в аптечке на троих даже ритм изменений одной пачки подскажет, кто чем лечится. Поэтому я расширил требование: сервер о лечении почти ничего не знает. И вся инженерная трудность в том, как согласовать общий запас, почти ничего не зная о клиентах.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учёта. Считаю я упаковки: «одно лекарство» однозначно не определить, а срок годности есть только у пачки. Курс записан отдельно от упаковок, хоть у врача до покупки. Пачки подключаются к нему по очереди, которую задаёт человек: сначала начатая дома, потом дачная. Кончилась пачка — курс идёт дальше со следующей.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Курс заранее выделяет каждой пачке дозы, и программа видит, сколько приёмов обеспечено и с какого дня лекарства не хватит. В общей аптечке эти выделения и работают как бронь. Если сосед всё же взял из занятой пачки, назначение не меняется: сокращаются обеспеченные приёмы, как требует ТЗ, и человек узнаёт об этом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главное: согласование при такой приватности. Посмотрите на схему баз. Жёлтое не покидает телефон: курсы, приёмы, сроки годности, заметки. Сервер знает только то, без чего общей аптечки нет: кто в ней состоит, какие там пачки, остатки и брони. Ни одной даты, у аптечки даже нет названия.
Из этого следуют правила. Сервер не знает курсов, поэтому конфликт решает телефон, а бронь для сервера только заявка, не замок. И сервер получает итог, а не события: расход и бронь уходят одним запросом, чтобы никто не увидел ложной нехватки.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трудное место — потерянный ответ. Я принял таблетку в метро, сервер списал дозу, а ответ не дошёл. Повторить — можно списать дважды, не повторять — потерять приём. Обычно это решает журнал операций в базе, но журнал и есть история того, кто и когда лечится.
Поэтому телефон сам нумерует операцию и при повторе шлёт тот же номер, а сервер помнит номера только в памяти и не дольше суток. Второго списания нет, а редкое расхождение после суток без связи видно и исправляется пересчётом.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Устроено это как три программы: приложение, сервер общих аптечек и сборщик справочника. Приложение построено вокруг домена, сервер слоями; на схеме путь одного нажатия «Принял». Правила не зависят ни от базы, ни от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средствам коротко: приложение на Kotlin и Compose, данные в Room прямо на телефоне, напоминания через WorkManager, сканер на ML Kit; сервер на Spring Boot и PostgreSQL. А теперь видео.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Видео 2:13 (demov2 — новая, озвучка eugene). Запускается щелчком по видео. В Slides клип играет без звука: реплики ниже читаю вживую; если нужна озвучка, файл включается отдельно, и тогда молчу.
0:01 Пропуски. «При входе приложение спрашивает о вчерашних приёмах без ответа — это последний шанс отметить, что принял.»
0:09 Аптечки. «Лекарства разложены по аптечкам, то есть по местам хранения. Просроченное видно сразу, его можно отфильтровать.»
0:16 Упаковка. «Учёт ведётся по конкретной пачке. Здесь же видно, сколько из неё уже занято под курсы. У каждой пачки свой срок годности.»
0:25 Курс. «Курс берёт дозы из нескольких пачек в том порядке, который задаёт человек. Сейчас их не хватает: приложение заранее говорит, на сколько приёмов не хватит, и предлагает, что сделать.»
0:38 Источники. «Подключаю пачку с дачи, у неё срок ближе. Ставлю её первой и отдаю ей дозы. Обеспечение пересчиталось сразу.»
0:58 Напоминание. «Напоминание о приёме уже пришло. Ответ из шторки списывает дозу из конкретной пачки, открывать приложение не нужно.»
1:11 Общий запас. «Из одной пачки берут несколько человек. Видно чужую бронь. Это изменение ещё едет к серверу: связи сейчас нет. Если пачку за это время изменил другой, сервер отказывает, и приложение показывает настоящий остаток.»
1:27 Отчёты. «Что есть сейчас, сколько уйдёт до даты и сколько уже принято.»
1:40 Приглашение. «Позвать в общую аптечку можно по QR или короткому коду, без регистрации, имени и почты.»
1:54 Сканер. «Новая пачка заводится по коду маркировки: название и производителя подставляют сервис „Честного знака“ и справочник, остаётся указать количество и место.»
После видео: Осталось подвести итог.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задачи выполнены. Каждый вид испытаний нашёл свой дефект, покрытие кода у сервера около 98 процентов строк, у приложения около 94. Документация оформлена по ЕСПД, пять документов.
А главный вывод такой: требование приватности, которое в ТЗ занимало одну строку, определило устройство всей системы — где живёт лечение, кто решает конфликты и как подтверждаются операции. Поэтому общий запас с бронью под курс работает без учётной записи и без сведений о лечении на сервере.
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источников. Не проговаривается.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приложения. Не проговаривается.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ПРИЛОЖЕНИЕ. Показывается, только если останется время или по вопросу комиссии. Ниже полный текст к слайду.
Основных сценариев работы два. Первый, слева, целиком локально на одном телефоне. Упаковку заводят сканером или вручную. К курсу подключают упаковки, из которых он будет брать дозы. В назначенное время приходит напоминание, и ответ списывает дозу из конкретной пачки. Напоминание в шторке сразу предлагает ответы: «Принял», «Пропустить», «Отложить».
Второй, справа, требует сети. Аптечку делают общей и приглашают участника кодом или QR. Участник вступает, и его курс закрепляет за собой часть общего запаса.  На карточке общей упаковки видно, сколько из неё уже заявили другие участники. 
Первое решение, от которого зависит остальное: что считать единицей учёта.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ПРИЛОЖЕНИЕ. Показывается, только если останется время или по вопросу комиссии. Ниже полный текст к слайду.
Требования я записал по техническому заданию, номера пунктов на слайде. Читать их удобнее всего по тому, где они выполняются.
Всё, что касается аптечек, упаковок и лечения, работает прямо на телефоне, без интернета. В метро, на даче, в самолёте приложение должно вести учёт и напоминать так же, как дома.
Сеть нужна только для трёх вещей, и у каждой свой источник. Общие аптечки живут на сервере MedApp. Справочник препаратов отдаёт API справочника: когда человек начинает вводить название, подставляются форма и производитель. А по коду маркировки на коробке сервис «Честного знака» подсказывает, что это за упаковка. Если сети нет, ничего не ломается: изменения общей аптечки подождут отправки, а поля упаковки человек заполнит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ПРИЛОЖЕНИЕ. Показывается, только если останется время или по вопросу комиссии. Ниже полный текст к слайду.
Главное нефункциональное требование второе, приватность. В ТЗ оно узкое: сервер не хранит имён, почты и телефонов. Но персональные данные шире: это всё, по чему можно восстановить человека, в первую очередь его лекарства и приёмы. В общей аптечке на троих даже ритм изменений одной пачки выдаёт, кто что принимает. Поэтому сервер о лечении не знает почти ничего.
Главной инженерной задачей оказалось необходимость синхронизировать общий запас и разрешать конфликты, почти ничего не зная о клиентах.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ПРИЛОЖЕНИЕ. Показывается, только если останется время или по вопросу комиссии. Ниже полный текст к слайду.
Проверял так, чтобы каждый вид проверки ловил свой класс ошибок, и у каждого вида есть дефект, который он действительно нашёл. Они в таблице.
Два примера. Проверка гонок на сервере сначала проходила случайно: барьер стоял перед всем сценарием, и быстрая сторона успевала закончить, пока медленная только читала. Я перенёс барьер между чтением и записью, и проверка стала ловить то, для чего написана. Второй пример: пробы против настоящего сервера. Именно проба показала, что бронь для сервера заявка, а не замок, и чужую бронь стережёт телефон.
Покрытие кода без служебного и сгенерированного: у сервера около 98 процентов строк и 84 процента ветвлений, у приложения около 94 и 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microsoft.com/office/2007/relationships/media" Target="../media/media1.mp4"/><Relationship Id="rId6" Type="http://schemas.openxmlformats.org/officeDocument/2006/relationships/video" Target="../media/media1.mp4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C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Логотип НИУ ВШЭ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4350" y="406400"/>
            <a:ext cx="635000" cy="635000"/>
          </a:xfrm>
          <a:prstGeom prst="rect">
            <a:avLst/>
          </a:prstGeom>
        </p:spPr>
      </p:pic>
      <p:pic>
        <p:nvPicPr>
          <p:cNvPr id="4" name="Image 2" descr="Логотип ФКН">    </p:cNvPr>
          <p:cNvPicPr>
            <a:picLocks noChangeAspect="1"/>
          </p:cNvPicPr>
          <p:nvPr/>
        </p:nvPicPr>
        <p:blipFill>
          <a:blip r:embed="rId3"/>
          <a:srcRect l="0" r="0" t="-24576" b="-24576"/>
          <a:stretch/>
        </p:blipFill>
        <p:spPr>
          <a:xfrm>
            <a:off x="1301750" y="444500"/>
            <a:ext cx="1270000" cy="558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1904802"/>
            <a:ext cx="981075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spc="-14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Приложение для Android</a:t>
            </a:r>
            <a:endParaRPr lang="en-US" sz="48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800" spc="-14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«Органайзер лекарств»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514350" y="3337322"/>
            <a:ext cx="1149819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55F77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«Medicine Organizer» Android Application</a:t>
            </a:r>
            <a:endParaRPr lang="en-US" sz="1800" dirty="0"/>
          </a:p>
        </p:txBody>
      </p:sp>
      <p:sp>
        <p:nvSpPr>
          <p:cNvPr id="7" name="Shape 2"/>
          <p:cNvSpPr/>
          <p:nvPr/>
        </p:nvSpPr>
        <p:spPr>
          <a:xfrm>
            <a:off x="514350" y="4609604"/>
            <a:ext cx="7112000" cy="1638796"/>
          </a:xfrm>
          <a:prstGeom prst="roundRect">
            <a:avLst>
              <a:gd name="adj" fmla="val 9300"/>
            </a:avLst>
          </a:prstGeom>
          <a:solidFill>
            <a:srgbClr val="FFFFFF"/>
          </a:solidFill>
          <a:ln/>
        </p:spPr>
      </p:sp>
      <p:sp>
        <p:nvSpPr>
          <p:cNvPr id="8" name="Text 3"/>
          <p:cNvSpPr/>
          <p:nvPr/>
        </p:nvSpPr>
        <p:spPr>
          <a:xfrm>
            <a:off x="742950" y="4787404"/>
            <a:ext cx="68544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Индивидуальный программный проект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42950" y="5046464"/>
            <a:ext cx="685444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Выполнил: Волошин Никита, БПИ245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42950" y="5332809"/>
            <a:ext cx="685444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 руководитель: Е. Ю. Песоцкая, к. э. н., доцент департамента программной инженерии ФКН НИУ ВШЭ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42950" y="5892800"/>
            <a:ext cx="68544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Москва, 2026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71250" y="6038850"/>
            <a:ext cx="444500" cy="45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Предметная область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Запас лекарств общий, а лечение личное, и живут они по разным правилам.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88741"/>
            <a:ext cx="3302000" cy="3076079"/>
          </a:xfrm>
          <a:prstGeom prst="roundRect">
            <a:avLst>
              <a:gd name="adj" fmla="val 4129"/>
            </a:avLst>
          </a:prstGeom>
          <a:solidFill>
            <a:srgbClr val="DFC7F2"/>
          </a:solidFill>
          <a:ln/>
        </p:spPr>
      </p:sp>
      <p:sp>
        <p:nvSpPr>
          <p:cNvPr id="7" name="Text 4"/>
          <p:cNvSpPr/>
          <p:nvPr/>
        </p:nvSpPr>
        <p:spPr>
          <a:xfrm>
            <a:off x="692150" y="2153841"/>
            <a:ext cx="303479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Лечение личное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2150" y="2514501"/>
            <a:ext cx="2946400" cy="2372519"/>
          </a:xfrm>
          <a:prstGeom prst="roundRect">
            <a:avLst>
              <a:gd name="adj" fmla="val 4282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2666901"/>
            <a:ext cx="269468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«Нурофен от спины»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7250" y="2959001"/>
            <a:ext cx="2694686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назначил невролог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7250" y="3285430"/>
            <a:ext cx="269468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таб 3 раза в день, 20 приёмов: нужно 20 таб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7250" y="3778746"/>
            <a:ext cx="2616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7250" y="3894336"/>
            <a:ext cx="1193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берёт по порядку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63750" y="38708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15" name="Text 12"/>
          <p:cNvSpPr/>
          <p:nvPr/>
        </p:nvSpPr>
        <p:spPr>
          <a:xfrm>
            <a:off x="2063750" y="387082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55850" y="3894336"/>
            <a:ext cx="3429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дом,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11450" y="387082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18" name="Text 15"/>
          <p:cNvSpPr/>
          <p:nvPr/>
        </p:nvSpPr>
        <p:spPr>
          <a:xfrm>
            <a:off x="2711450" y="387082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003550" y="3894336"/>
            <a:ext cx="3619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дача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7250" y="4193480"/>
            <a:ext cx="2616200" cy="540941"/>
          </a:xfrm>
          <a:prstGeom prst="roundRect">
            <a:avLst>
              <a:gd name="adj" fmla="val 11739"/>
            </a:avLst>
          </a:prstGeom>
          <a:solidFill>
            <a:srgbClr val="DFC7F2"/>
          </a:solidFill>
          <a:ln/>
        </p:spPr>
      </p:sp>
      <p:sp>
        <p:nvSpPr>
          <p:cNvPr id="21" name="Text 18"/>
          <p:cNvSpPr/>
          <p:nvPr/>
        </p:nvSpPr>
        <p:spPr>
          <a:xfrm>
            <a:off x="958850" y="4282380"/>
            <a:ext cx="248539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Домашнюю пачку может допить семья, а курс об этом не узнает.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68750" y="1988741"/>
            <a:ext cx="7708900" cy="3076079"/>
          </a:xfrm>
          <a:prstGeom prst="roundRect">
            <a:avLst>
              <a:gd name="adj" fmla="val 4129"/>
            </a:avLst>
          </a:prstGeom>
          <a:solidFill>
            <a:srgbClr val="F5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146550" y="2153841"/>
            <a:ext cx="757389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Запас общий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46550" y="2514501"/>
            <a:ext cx="2366466" cy="2372519"/>
          </a:xfrm>
          <a:prstGeom prst="roundRect">
            <a:avLst>
              <a:gd name="adj" fmla="val 4293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311650" y="2666901"/>
            <a:ext cx="178341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Дом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19316" y="26693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27" name="Text 24"/>
          <p:cNvSpPr/>
          <p:nvPr/>
        </p:nvSpPr>
        <p:spPr>
          <a:xfrm>
            <a:off x="6119316" y="26693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11650" y="2964061"/>
            <a:ext cx="209735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Нурофен 200 мг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11650" y="3247231"/>
            <a:ext cx="20973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5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11 таб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4311650" y="3717131"/>
            <a:ext cx="209735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годен до 05.2027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11650" y="3981847"/>
            <a:ext cx="2036266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32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1650" y="4073922"/>
            <a:ext cx="203200" cy="203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591050" y="4076502"/>
            <a:ext cx="12128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берут: я и семья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311650" y="4426049"/>
            <a:ext cx="2036266" cy="308570"/>
          </a:xfrm>
          <a:prstGeom prst="roundRect">
            <a:avLst>
              <a:gd name="adj" fmla="val 20579"/>
            </a:avLst>
          </a:prstGeom>
          <a:solidFill>
            <a:srgbClr val="DFC7F2"/>
          </a:solidFill>
          <a:ln/>
        </p:spPr>
      </p:sp>
      <p:sp>
        <p:nvSpPr>
          <p:cNvPr id="35" name="Text 31"/>
          <p:cNvSpPr/>
          <p:nvPr/>
        </p:nvSpPr>
        <p:spPr>
          <a:xfrm>
            <a:off x="4413250" y="4489549"/>
            <a:ext cx="1888058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берёт отсюда 11 таб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640016" y="2514501"/>
            <a:ext cx="2366466" cy="2372519"/>
          </a:xfrm>
          <a:prstGeom prst="roundRect">
            <a:avLst>
              <a:gd name="adj" fmla="val 4293"/>
            </a:avLst>
          </a:prstGeom>
          <a:solidFill>
            <a:srgbClr val="FFFFFF"/>
          </a:solidFill>
          <a:ln/>
        </p:spPr>
      </p:sp>
      <p:sp>
        <p:nvSpPr>
          <p:cNvPr id="37" name="Text 33"/>
          <p:cNvSpPr/>
          <p:nvPr/>
        </p:nvSpPr>
        <p:spPr>
          <a:xfrm>
            <a:off x="6805116" y="2666901"/>
            <a:ext cx="178341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Дача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8612783" y="266938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39" name="Text 35"/>
          <p:cNvSpPr/>
          <p:nvPr/>
        </p:nvSpPr>
        <p:spPr>
          <a:xfrm>
            <a:off x="8612783" y="26693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805116" y="2964061"/>
            <a:ext cx="209735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Нурофен 200 мг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805116" y="3247231"/>
            <a:ext cx="20973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5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20 таб</a:t>
            </a:r>
            <a:endParaRPr lang="en-US" sz="3200" dirty="0"/>
          </a:p>
        </p:txBody>
      </p:sp>
      <p:sp>
        <p:nvSpPr>
          <p:cNvPr id="42" name="Text 38"/>
          <p:cNvSpPr/>
          <p:nvPr/>
        </p:nvSpPr>
        <p:spPr>
          <a:xfrm>
            <a:off x="6805116" y="3717131"/>
            <a:ext cx="209735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годен до 01.2028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805116" y="3981847"/>
            <a:ext cx="2036266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44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05116" y="4073922"/>
            <a:ext cx="203200" cy="2032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084516" y="4076502"/>
            <a:ext cx="12827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берут: я и соседи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6805116" y="4426049"/>
            <a:ext cx="2036266" cy="308570"/>
          </a:xfrm>
          <a:prstGeom prst="roundRect">
            <a:avLst>
              <a:gd name="adj" fmla="val 20579"/>
            </a:avLst>
          </a:prstGeom>
          <a:solidFill>
            <a:srgbClr val="DFC7F2"/>
          </a:solidFill>
          <a:ln/>
        </p:spPr>
      </p:sp>
      <p:sp>
        <p:nvSpPr>
          <p:cNvPr id="47" name="Text 42"/>
          <p:cNvSpPr/>
          <p:nvPr/>
        </p:nvSpPr>
        <p:spPr>
          <a:xfrm>
            <a:off x="6906716" y="4489549"/>
            <a:ext cx="1888058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берёт отсюда 9 таб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9133483" y="2514501"/>
            <a:ext cx="2366466" cy="2372519"/>
          </a:xfrm>
          <a:prstGeom prst="roundRect">
            <a:avLst>
              <a:gd name="adj" fmla="val 4293"/>
            </a:avLst>
          </a:prstGeom>
          <a:solidFill>
            <a:srgbClr val="FFFFFF"/>
          </a:solidFill>
          <a:ln/>
        </p:spPr>
      </p:sp>
      <p:sp>
        <p:nvSpPr>
          <p:cNvPr id="49" name="Text 44"/>
          <p:cNvSpPr/>
          <p:nvPr/>
        </p:nvSpPr>
        <p:spPr>
          <a:xfrm>
            <a:off x="9298583" y="2666901"/>
            <a:ext cx="2097354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Рюкзак</a:t>
            </a:r>
            <a:endParaRPr lang="en-US" sz="1600" dirty="0"/>
          </a:p>
        </p:txBody>
      </p:sp>
      <p:sp>
        <p:nvSpPr>
          <p:cNvPr id="50" name="Text 45"/>
          <p:cNvSpPr/>
          <p:nvPr/>
        </p:nvSpPr>
        <p:spPr>
          <a:xfrm>
            <a:off x="9298583" y="2964061"/>
            <a:ext cx="209735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Нурофен 200 мг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9298583" y="3247231"/>
            <a:ext cx="209735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5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4 таб</a:t>
            </a:r>
            <a:endParaRPr lang="en-US" sz="3200" dirty="0"/>
          </a:p>
        </p:txBody>
      </p:sp>
      <p:sp>
        <p:nvSpPr>
          <p:cNvPr id="52" name="Text 47"/>
          <p:cNvSpPr/>
          <p:nvPr/>
        </p:nvSpPr>
        <p:spPr>
          <a:xfrm>
            <a:off x="9298583" y="3717131"/>
            <a:ext cx="209735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годен до 03.2027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9298583" y="3981847"/>
            <a:ext cx="2036266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54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8583" y="4073922"/>
            <a:ext cx="203200" cy="20320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577983" y="4076502"/>
            <a:ext cx="6032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берут: я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9298583" y="4426049"/>
            <a:ext cx="2036266" cy="308570"/>
          </a:xfrm>
          <a:prstGeom prst="roundRect">
            <a:avLst>
              <a:gd name="adj" fmla="val 20579"/>
            </a:avLst>
          </a:prstGeom>
          <a:solidFill>
            <a:srgbClr val="F5F1FB"/>
          </a:solidFill>
          <a:ln/>
        </p:spPr>
      </p:sp>
      <p:sp>
        <p:nvSpPr>
          <p:cNvPr id="57" name="Text 51"/>
          <p:cNvSpPr/>
          <p:nvPr/>
        </p:nvSpPr>
        <p:spPr>
          <a:xfrm>
            <a:off x="9400183" y="4489549"/>
            <a:ext cx="1888058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отсюда не берёт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514350" y="5268020"/>
            <a:ext cx="311981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Важно не «есть ли нурофен», а</a:t>
            </a:r>
            <a:endParaRPr lang="en-US" sz="1600" dirty="0"/>
          </a:p>
        </p:txBody>
      </p:sp>
      <p:sp>
        <p:nvSpPr>
          <p:cNvPr id="59" name="Shape 53"/>
          <p:cNvSpPr/>
          <p:nvPr/>
        </p:nvSpPr>
        <p:spPr>
          <a:xfrm>
            <a:off x="3644900" y="5217220"/>
            <a:ext cx="1123950" cy="335260"/>
          </a:xfrm>
          <a:prstGeom prst="roundRect">
            <a:avLst>
              <a:gd name="adj" fmla="val 22729"/>
            </a:avLst>
          </a:prstGeom>
          <a:solidFill>
            <a:srgbClr val="F5F1FB"/>
          </a:solidFill>
          <a:ln/>
        </p:spPr>
      </p:sp>
      <p:sp>
        <p:nvSpPr>
          <p:cNvPr id="60" name="Text 54"/>
          <p:cNvSpPr/>
          <p:nvPr/>
        </p:nvSpPr>
        <p:spPr>
          <a:xfrm>
            <a:off x="3771900" y="5293420"/>
            <a:ext cx="92075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какая пачка</a:t>
            </a:r>
            <a:endParaRPr lang="en-US" sz="1200" dirty="0"/>
          </a:p>
        </p:txBody>
      </p:sp>
      <p:sp>
        <p:nvSpPr>
          <p:cNvPr id="61" name="Shape 55"/>
          <p:cNvSpPr/>
          <p:nvPr/>
        </p:nvSpPr>
        <p:spPr>
          <a:xfrm>
            <a:off x="4870450" y="5217220"/>
            <a:ext cx="990600" cy="335260"/>
          </a:xfrm>
          <a:prstGeom prst="roundRect">
            <a:avLst>
              <a:gd name="adj" fmla="val 22729"/>
            </a:avLst>
          </a:prstGeom>
          <a:solidFill>
            <a:srgbClr val="F5F1FB"/>
          </a:solidFill>
          <a:ln/>
        </p:spPr>
      </p:sp>
      <p:sp>
        <p:nvSpPr>
          <p:cNvPr id="62" name="Text 56"/>
          <p:cNvSpPr/>
          <p:nvPr/>
        </p:nvSpPr>
        <p:spPr>
          <a:xfrm>
            <a:off x="4997450" y="5293420"/>
            <a:ext cx="7874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где лежит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5962650" y="5217220"/>
            <a:ext cx="1562100" cy="335260"/>
          </a:xfrm>
          <a:prstGeom prst="roundRect">
            <a:avLst>
              <a:gd name="adj" fmla="val 22729"/>
            </a:avLst>
          </a:prstGeom>
          <a:solidFill>
            <a:srgbClr val="F5F1FB"/>
          </a:solidFill>
          <a:ln/>
        </p:spPr>
      </p:sp>
      <p:sp>
        <p:nvSpPr>
          <p:cNvPr id="64" name="Text 58"/>
          <p:cNvSpPr/>
          <p:nvPr/>
        </p:nvSpPr>
        <p:spPr>
          <a:xfrm>
            <a:off x="6089650" y="5293420"/>
            <a:ext cx="13589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сколько осталось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7626350" y="5217220"/>
            <a:ext cx="1879600" cy="335260"/>
          </a:xfrm>
          <a:prstGeom prst="roundRect">
            <a:avLst>
              <a:gd name="adj" fmla="val 22729"/>
            </a:avLst>
          </a:prstGeom>
          <a:solidFill>
            <a:srgbClr val="F5F1FB"/>
          </a:solidFill>
          <a:ln/>
        </p:spPr>
      </p:sp>
      <p:sp>
        <p:nvSpPr>
          <p:cNvPr id="66" name="Text 60"/>
          <p:cNvSpPr/>
          <p:nvPr/>
        </p:nvSpPr>
        <p:spPr>
          <a:xfrm>
            <a:off x="7753350" y="5293420"/>
            <a:ext cx="167640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 какого числа годна</a:t>
            </a:r>
            <a:endParaRPr lang="en-US" sz="1200" dirty="0"/>
          </a:p>
        </p:txBody>
      </p:sp>
      <p:sp>
        <p:nvSpPr>
          <p:cNvPr id="67" name="Shape 61"/>
          <p:cNvSpPr/>
          <p:nvPr/>
        </p:nvSpPr>
        <p:spPr>
          <a:xfrm>
            <a:off x="514350" y="5704880"/>
            <a:ext cx="11163300" cy="746720"/>
          </a:xfrm>
          <a:prstGeom prst="roundRect">
            <a:avLst>
              <a:gd name="adj" fmla="val 17008"/>
            </a:avLst>
          </a:prstGeom>
          <a:solidFill>
            <a:srgbClr val="DCFF05"/>
          </a:solidFill>
          <a:ln/>
        </p:spPr>
      </p:sp>
      <p:sp>
        <p:nvSpPr>
          <p:cNvPr id="68" name="Text 62"/>
          <p:cNvSpPr/>
          <p:nvPr/>
        </p:nvSpPr>
        <p:spPr>
          <a:xfrm>
            <a:off x="704850" y="5844580"/>
            <a:ext cx="1110576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MedApp ведёт учёт по упаковкам и местам хранения, лечение по этим упаковкам и общий запас нескольких людей, передавая с телефона минимум данных.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Актуальность работы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4350" y="1610320"/>
            <a:ext cx="2215455" cy="4125020"/>
          </a:xfrm>
          <a:prstGeom prst="roundRect">
            <a:avLst>
              <a:gd name="adj" fmla="val 5732"/>
            </a:avLst>
          </a:prstGeom>
          <a:solidFill>
            <a:srgbClr val="F5F1FB"/>
          </a:solidFill>
          <a:ln/>
        </p:spPr>
      </p:sp>
      <p:sp>
        <p:nvSpPr>
          <p:cNvPr id="6" name="Shape 3"/>
          <p:cNvSpPr/>
          <p:nvPr/>
        </p:nvSpPr>
        <p:spPr>
          <a:xfrm>
            <a:off x="692150" y="177542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7" name="Text 4"/>
          <p:cNvSpPr/>
          <p:nvPr/>
        </p:nvSpPr>
        <p:spPr>
          <a:xfrm>
            <a:off x="692150" y="17754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96950" y="1807170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2150" y="2105620"/>
            <a:ext cx="1915651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65"/>
              </a:lnSpc>
              <a:buNone/>
            </a:pPr>
            <a:r>
              <a:rPr lang="en-US" sz="4665" spc="-7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≈50 %</a:t>
            </a:r>
            <a:endParaRPr lang="en-US" sz="4665" dirty="0"/>
          </a:p>
        </p:txBody>
      </p:sp>
      <p:sp>
        <p:nvSpPr>
          <p:cNvPr id="10" name="Shape 7"/>
          <p:cNvSpPr/>
          <p:nvPr/>
        </p:nvSpPr>
        <p:spPr>
          <a:xfrm>
            <a:off x="69850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535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220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8905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590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8275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7960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7645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7330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70150" y="2831207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150" y="3099891"/>
            <a:ext cx="1915651" cy="106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2"/>
              </a:lnSpc>
              <a:buNone/>
            </a:pPr>
            <a:r>
              <a:rPr lang="en-US" sz="1263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пациентов с хроническими заболеваниями соблюдают назначенную терапию</a:t>
            </a:r>
            <a:endParaRPr lang="en-US" sz="1263" dirty="0"/>
          </a:p>
        </p:txBody>
      </p:sp>
      <p:sp>
        <p:nvSpPr>
          <p:cNvPr id="21" name="Text 18"/>
          <p:cNvSpPr/>
          <p:nvPr/>
        </p:nvSpPr>
        <p:spPr>
          <a:xfrm>
            <a:off x="692150" y="4269184"/>
            <a:ext cx="1915651" cy="907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1073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ОЭСР: в Европе с несоблюдением связывают около 200 тыс. смертей и 125 млрд € лишних расходов в год</a:t>
            </a:r>
            <a:endParaRPr lang="en-US" sz="1073" dirty="0"/>
          </a:p>
        </p:txBody>
      </p:sp>
      <p:sp>
        <p:nvSpPr>
          <p:cNvPr id="22" name="Text 19"/>
          <p:cNvSpPr/>
          <p:nvPr/>
        </p:nvSpPr>
        <p:spPr>
          <a:xfrm>
            <a:off x="692150" y="5252740"/>
            <a:ext cx="1915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 систематических обзоров, 2025</a:t>
            </a:r>
            <a:endParaRPr lang="en-US" sz="1000" dirty="0"/>
          </a:p>
        </p:txBody>
      </p:sp>
      <p:pic>
        <p:nvPicPr>
          <p:cNvPr id="2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1405" y="3564830"/>
            <a:ext cx="254000" cy="2159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187005" y="1610320"/>
            <a:ext cx="2215455" cy="4125020"/>
          </a:xfrm>
          <a:prstGeom prst="roundRect">
            <a:avLst>
              <a:gd name="adj" fmla="val 5732"/>
            </a:avLst>
          </a:prstGeom>
          <a:solidFill>
            <a:srgbClr val="F5F1FB"/>
          </a:solidFill>
          <a:ln/>
        </p:spPr>
      </p:sp>
      <p:sp>
        <p:nvSpPr>
          <p:cNvPr id="25" name="Shape 21"/>
          <p:cNvSpPr/>
          <p:nvPr/>
        </p:nvSpPr>
        <p:spPr>
          <a:xfrm>
            <a:off x="3364805" y="177542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26" name="Text 22"/>
          <p:cNvSpPr/>
          <p:nvPr/>
        </p:nvSpPr>
        <p:spPr>
          <a:xfrm>
            <a:off x="3364805" y="17754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669605" y="1807170"/>
            <a:ext cx="121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ОБЫЧНЫЙ ОТВЕТ</a:t>
            </a:r>
            <a:endParaRPr lang="en-US" sz="1000" dirty="0"/>
          </a:p>
        </p:txBody>
      </p:sp>
      <p:pic>
        <p:nvPicPr>
          <p:cNvPr id="28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4805" y="2505770"/>
            <a:ext cx="609600" cy="609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364805" y="3242370"/>
            <a:ext cx="1915651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Напоминание о приёме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3364805" y="3836690"/>
            <a:ext cx="1915651" cy="109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Таких приложений много. Но напоминание исходит из того, что лекарство на месте.</a:t>
            </a:r>
            <a:endParaRPr lang="en-US" sz="1300" dirty="0"/>
          </a:p>
        </p:txBody>
      </p:sp>
      <p:pic>
        <p:nvPicPr>
          <p:cNvPr id="3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04061" y="3564830"/>
            <a:ext cx="254000" cy="2159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859661" y="1610320"/>
            <a:ext cx="2866430" cy="4125020"/>
          </a:xfrm>
          <a:prstGeom prst="roundRect">
            <a:avLst>
              <a:gd name="adj" fmla="val 4431"/>
            </a:avLst>
          </a:prstGeom>
          <a:solidFill>
            <a:srgbClr val="F5F1FB"/>
          </a:solidFill>
          <a:ln/>
        </p:spPr>
      </p:sp>
      <p:sp>
        <p:nvSpPr>
          <p:cNvPr id="33" name="Shape 27"/>
          <p:cNvSpPr/>
          <p:nvPr/>
        </p:nvSpPr>
        <p:spPr>
          <a:xfrm>
            <a:off x="6037461" y="177542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4" name="Text 28"/>
          <p:cNvSpPr/>
          <p:nvPr/>
        </p:nvSpPr>
        <p:spPr>
          <a:xfrm>
            <a:off x="6037461" y="17754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42261" y="1807170"/>
            <a:ext cx="116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А ЗАПАС ОБЩИЙ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037461" y="2651820"/>
            <a:ext cx="100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7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85 %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7091561" y="2615009"/>
            <a:ext cx="15075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держат дома запас лекарств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037461" y="3422650"/>
            <a:ext cx="100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7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56 %</a:t>
            </a:r>
            <a:endParaRPr lang="en-US" sz="2800" dirty="0"/>
          </a:p>
        </p:txBody>
      </p:sp>
      <p:sp>
        <p:nvSpPr>
          <p:cNvPr id="39" name="Text 33"/>
          <p:cNvSpPr/>
          <p:nvPr/>
        </p:nvSpPr>
        <p:spPr>
          <a:xfrm>
            <a:off x="7091561" y="3171230"/>
            <a:ext cx="1507530" cy="883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говорят, что им или близким лекарства нужны постоянно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037461" y="4300736"/>
            <a:ext cx="100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spc="-75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½</a:t>
            </a:r>
            <a:endParaRPr lang="en-US" sz="2800" dirty="0"/>
          </a:p>
        </p:txBody>
      </p:sp>
      <p:sp>
        <p:nvSpPr>
          <p:cNvPr id="41" name="Text 35"/>
          <p:cNvSpPr/>
          <p:nvPr/>
        </p:nvSpPr>
        <p:spPr>
          <a:xfrm>
            <a:off x="7091561" y="4156670"/>
            <a:ext cx="1507530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продолжают принимать просроченное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037461" y="5411490"/>
            <a:ext cx="2586155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ФОМ, 2023; MRF, 2025</a:t>
            </a:r>
            <a:endParaRPr lang="en-US" sz="1000" dirty="0"/>
          </a:p>
        </p:txBody>
      </p:sp>
      <p:pic>
        <p:nvPicPr>
          <p:cNvPr id="43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27691" y="3564830"/>
            <a:ext cx="254000" cy="21590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183291" y="1610320"/>
            <a:ext cx="2494459" cy="4125020"/>
          </a:xfrm>
          <a:prstGeom prst="roundRect">
            <a:avLst>
              <a:gd name="adj" fmla="val 5091"/>
            </a:avLst>
          </a:prstGeom>
          <a:solidFill>
            <a:srgbClr val="DFC7F2"/>
          </a:solidFill>
          <a:ln/>
        </p:spPr>
      </p:sp>
      <p:sp>
        <p:nvSpPr>
          <p:cNvPr id="45" name="Shape 38"/>
          <p:cNvSpPr/>
          <p:nvPr/>
        </p:nvSpPr>
        <p:spPr>
          <a:xfrm>
            <a:off x="9361091" y="177542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46" name="Text 39"/>
          <p:cNvSpPr/>
          <p:nvPr/>
        </p:nvSpPr>
        <p:spPr>
          <a:xfrm>
            <a:off x="9361091" y="17754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9665891" y="1807170"/>
            <a:ext cx="40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ИТОГ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9361091" y="2709565"/>
            <a:ext cx="2203024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Напоминание сработало, а таблетки нет</a:t>
            </a:r>
            <a:endParaRPr lang="en-US" sz="1600" dirty="0"/>
          </a:p>
        </p:txBody>
      </p:sp>
      <p:pic>
        <p:nvPicPr>
          <p:cNvPr id="49" name="Image 5" descr="User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61091" y="3537545"/>
            <a:ext cx="304800" cy="3048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754791" y="3582591"/>
            <a:ext cx="179751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её взял кто-то другой</a:t>
            </a:r>
            <a:endParaRPr lang="en-US" sz="1300" dirty="0"/>
          </a:p>
        </p:txBody>
      </p:sp>
      <p:pic>
        <p:nvPicPr>
          <p:cNvPr id="51" name="Image 6" descr="Hom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61091" y="3969345"/>
            <a:ext cx="304800" cy="30480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9754791" y="4014391"/>
            <a:ext cx="179751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она лежит на даче</a:t>
            </a:r>
            <a:endParaRPr lang="en-US" sz="1300" dirty="0"/>
          </a:p>
        </p:txBody>
      </p:sp>
      <p:pic>
        <p:nvPicPr>
          <p:cNvPr id="53" name="Image 7" descr="War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361091" y="4401145"/>
            <a:ext cx="304800" cy="30480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754791" y="4446191"/>
            <a:ext cx="179751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она просрочена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514350" y="5913140"/>
            <a:ext cx="11163300" cy="538460"/>
          </a:xfrm>
          <a:prstGeom prst="roundRect">
            <a:avLst>
              <a:gd name="adj" fmla="val 23586"/>
            </a:avLst>
          </a:prstGeom>
          <a:solidFill>
            <a:srgbClr val="DCFF05"/>
          </a:solidFill>
          <a:ln/>
        </p:spPr>
      </p:sp>
      <p:sp>
        <p:nvSpPr>
          <p:cNvPr id="56" name="Text 46"/>
          <p:cNvSpPr/>
          <p:nvPr/>
        </p:nvSpPr>
        <p:spPr>
          <a:xfrm>
            <a:off x="704850" y="6065540"/>
            <a:ext cx="111057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Мало напомнить о времени. Нужно знать, хватит ли на курс запаса, которым пользуются несколько человек.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Цель и задачи работы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72220"/>
            <a:ext cx="114981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ЦЕЛЬ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33400" y="1826220"/>
            <a:ext cx="0" cy="873522"/>
          </a:xfrm>
          <a:prstGeom prst="line">
            <a:avLst/>
          </a:prstGeom>
          <a:noFill/>
          <a:ln w="38100">
            <a:solidFill>
              <a:srgbClr val="DCFF0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7550" y="1851620"/>
            <a:ext cx="11288903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Разработать приложение для Android, которое ведёт учёт домашних лекарств по упаковкам и местам хранения, ведёт лечение по этим упаковкам и позволяет нескольким людям согласованно пользоваться общим запасом, не передавая о себе персональных данных.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14350" y="2839442"/>
            <a:ext cx="58733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ЗАДАЧИ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4350" y="3478312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8650" y="315724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11" name="Text 8"/>
          <p:cNvSpPr/>
          <p:nvPr/>
        </p:nvSpPr>
        <p:spPr>
          <a:xfrm>
            <a:off x="628650" y="315724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6950" y="3185220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Проанализировать предметную область и существующие решения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4350" y="3904456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650" y="3583384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15" name="Text 12"/>
          <p:cNvSpPr/>
          <p:nvPr/>
        </p:nvSpPr>
        <p:spPr>
          <a:xfrm>
            <a:off x="628650" y="3583384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96950" y="3611364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Сформулировать функциональные и нефункциональные требования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4350" y="3945731"/>
            <a:ext cx="5702300" cy="381695"/>
          </a:xfrm>
          <a:prstGeom prst="roundRect">
            <a:avLst>
              <a:gd name="adj" fmla="val 23291"/>
            </a:avLst>
          </a:prstGeom>
          <a:solidFill>
            <a:srgbClr val="DFC7F2"/>
          </a:solidFill>
          <a:ln/>
        </p:spPr>
      </p:sp>
      <p:sp>
        <p:nvSpPr>
          <p:cNvPr id="18" name="Shape 15"/>
          <p:cNvSpPr/>
          <p:nvPr/>
        </p:nvSpPr>
        <p:spPr>
          <a:xfrm>
            <a:off x="628650" y="4009529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28650" y="4009529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96950" y="4037509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модель учёта упаковок и лечения по ним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14350" y="4365526"/>
            <a:ext cx="5702300" cy="381695"/>
          </a:xfrm>
          <a:prstGeom prst="roundRect">
            <a:avLst>
              <a:gd name="adj" fmla="val 23291"/>
            </a:avLst>
          </a:prstGeom>
          <a:solidFill>
            <a:srgbClr val="DFC7F2"/>
          </a:solidFill>
          <a:ln/>
        </p:spPr>
      </p:sp>
      <p:sp>
        <p:nvSpPr>
          <p:cNvPr id="22" name="Shape 19"/>
          <p:cNvSpPr/>
          <p:nvPr/>
        </p:nvSpPr>
        <p:spPr>
          <a:xfrm>
            <a:off x="628650" y="442932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628650" y="4429323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96950" y="4358382"/>
            <a:ext cx="525856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метод согласования общего запаса без передачи серверу сведений о лечении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14350" y="5170190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8650" y="484911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27" name="Text 24"/>
          <p:cNvSpPr/>
          <p:nvPr/>
        </p:nvSpPr>
        <p:spPr>
          <a:xfrm>
            <a:off x="628650" y="484911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96950" y="4877098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Собрать справочник препаратов и разработать сервер общих аптечек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14350" y="5596334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8650" y="527526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31" name="Text 28"/>
          <p:cNvSpPr/>
          <p:nvPr/>
        </p:nvSpPr>
        <p:spPr>
          <a:xfrm>
            <a:off x="628650" y="5275263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96950" y="5303242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Android-приложение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14350" y="6022479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8650" y="5701407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35" name="Text 32"/>
          <p:cNvSpPr/>
          <p:nvPr/>
        </p:nvSpPr>
        <p:spPr>
          <a:xfrm>
            <a:off x="628650" y="5701407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96950" y="5729387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Провести испытания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14350" y="6448623"/>
            <a:ext cx="5702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8650" y="612755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F5F1FB"/>
          </a:solidFill>
          <a:ln/>
        </p:spPr>
      </p:sp>
      <p:sp>
        <p:nvSpPr>
          <p:cNvPr id="39" name="Text 36"/>
          <p:cNvSpPr/>
          <p:nvPr/>
        </p:nvSpPr>
        <p:spPr>
          <a:xfrm>
            <a:off x="628650" y="6127552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96950" y="6155531"/>
            <a:ext cx="525856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программную документацию по ГОСТ ЕСПД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470650" y="2839442"/>
            <a:ext cx="5207000" cy="1742579"/>
          </a:xfrm>
          <a:prstGeom prst="roundRect">
            <a:avLst>
              <a:gd name="adj" fmla="val 7288"/>
            </a:avLst>
          </a:prstGeom>
          <a:solidFill>
            <a:srgbClr val="DFC7F2"/>
          </a:solidFill>
          <a:ln/>
        </p:spPr>
      </p:sp>
      <p:sp>
        <p:nvSpPr>
          <p:cNvPr id="42" name="Shape 39"/>
          <p:cNvSpPr/>
          <p:nvPr/>
        </p:nvSpPr>
        <p:spPr>
          <a:xfrm>
            <a:off x="6661150" y="297963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43" name="Text 40"/>
          <p:cNvSpPr/>
          <p:nvPr/>
        </p:nvSpPr>
        <p:spPr>
          <a:xfrm>
            <a:off x="6661150" y="297963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991350" y="3024088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ТРУДНАЯ ЗАДАЧА 3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661150" y="3310334"/>
            <a:ext cx="4970780" cy="465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445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Как вести курс, который берёт дозы из нескольких пачек?</a:t>
            </a:r>
            <a:endParaRPr lang="en-US" sz="1445" dirty="0"/>
          </a:p>
        </p:txBody>
      </p:sp>
      <p:sp>
        <p:nvSpPr>
          <p:cNvPr id="46" name="Shape 43"/>
          <p:cNvSpPr/>
          <p:nvPr/>
        </p:nvSpPr>
        <p:spPr>
          <a:xfrm>
            <a:off x="6661150" y="3839766"/>
            <a:ext cx="169545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6762750" y="3903266"/>
            <a:ext cx="154305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длится неделями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420100" y="3839766"/>
            <a:ext cx="173355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8521700" y="3903266"/>
            <a:ext cx="158115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пачки в разных местах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661150" y="4197846"/>
            <a:ext cx="150495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6762750" y="4261346"/>
            <a:ext cx="135255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из них берут другие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470650" y="4709021"/>
            <a:ext cx="5207000" cy="1742579"/>
          </a:xfrm>
          <a:prstGeom prst="roundRect">
            <a:avLst>
              <a:gd name="adj" fmla="val 7288"/>
            </a:avLst>
          </a:prstGeom>
          <a:solidFill>
            <a:srgbClr val="DFC7F2"/>
          </a:solidFill>
          <a:ln/>
        </p:spPr>
      </p:sp>
      <p:sp>
        <p:nvSpPr>
          <p:cNvPr id="53" name="Shape 50"/>
          <p:cNvSpPr/>
          <p:nvPr/>
        </p:nvSpPr>
        <p:spPr>
          <a:xfrm>
            <a:off x="6661150" y="4849217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54" name="Text 51"/>
          <p:cNvSpPr/>
          <p:nvPr/>
        </p:nvSpPr>
        <p:spPr>
          <a:xfrm>
            <a:off x="6661150" y="4849217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991350" y="4893667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ТРУДНАЯ ЗАДАЧА 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661150" y="5179913"/>
            <a:ext cx="4970780" cy="465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445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Как нескольким телефонам договориться об одной пачке?</a:t>
            </a:r>
            <a:endParaRPr lang="en-US" sz="1445" dirty="0"/>
          </a:p>
        </p:txBody>
      </p:sp>
      <p:sp>
        <p:nvSpPr>
          <p:cNvPr id="57" name="Shape 54"/>
          <p:cNvSpPr/>
          <p:nvPr/>
        </p:nvSpPr>
        <p:spPr>
          <a:xfrm>
            <a:off x="6661150" y="5709345"/>
            <a:ext cx="105410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6762750" y="5772845"/>
            <a:ext cx="90170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связь рвётся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778750" y="5709345"/>
            <a:ext cx="187960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60" name="Text 57"/>
          <p:cNvSpPr/>
          <p:nvPr/>
        </p:nvSpPr>
        <p:spPr>
          <a:xfrm>
            <a:off x="7880350" y="5772845"/>
            <a:ext cx="1727200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действия одновременны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6661150" y="6067425"/>
            <a:ext cx="1955800" cy="294580"/>
          </a:xfrm>
          <a:prstGeom prst="roundRect">
            <a:avLst>
              <a:gd name="adj" fmla="val 21556"/>
            </a:avLst>
          </a:prstGeom>
          <a:solidFill>
            <a:srgbClr val="FFFFFF"/>
          </a:solidFill>
          <a:ln/>
        </p:spPr>
      </p:sp>
      <p:sp>
        <p:nvSpPr>
          <p:cNvPr id="62" name="Text 59"/>
          <p:cNvSpPr/>
          <p:nvPr/>
        </p:nvSpPr>
        <p:spPr>
          <a:xfrm>
            <a:off x="6762750" y="6130925"/>
            <a:ext cx="1805178" cy="19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сервер не знает о лечении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68"/>
              </a:lnSpc>
              <a:buNone/>
            </a:pPr>
            <a:r>
              <a:rPr lang="en-US" sz="3589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Анализ существующих решений</a:t>
            </a:r>
            <a:endParaRPr lang="en-US" sz="3589" dirty="0"/>
          </a:p>
        </p:txBody>
      </p:sp>
      <p:sp>
        <p:nvSpPr>
          <p:cNvPr id="5" name="Shape 2"/>
          <p:cNvSpPr/>
          <p:nvPr/>
        </p:nvSpPr>
        <p:spPr>
          <a:xfrm>
            <a:off x="514350" y="2129830"/>
            <a:ext cx="27305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44850" y="2129830"/>
            <a:ext cx="19812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59150" y="1772940"/>
            <a:ext cx="1805178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«Домашняя аптечка»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26050" y="2129830"/>
            <a:ext cx="19812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0350" y="1681559"/>
            <a:ext cx="1805178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«Аптечка. Учёт медикаментов»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07250" y="2129830"/>
            <a:ext cx="23241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21550" y="1772940"/>
            <a:ext cx="21583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mojApteczka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531350" y="1605359"/>
            <a:ext cx="2146300" cy="530820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13" name="Shape 10"/>
          <p:cNvSpPr/>
          <p:nvPr/>
        </p:nvSpPr>
        <p:spPr>
          <a:xfrm>
            <a:off x="9531350" y="2129830"/>
            <a:ext cx="21463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5650" y="1772940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MedApp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4350" y="2657475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650" y="2212380"/>
            <a:ext cx="257695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берёт дозы из нескольких пачек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44850" y="2657475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59150" y="229622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26050" y="2657475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0350" y="229622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07250" y="2657475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21550" y="2296220"/>
            <a:ext cx="215836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531350" y="2136180"/>
            <a:ext cx="2146300" cy="524470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24" name="Shape 21"/>
          <p:cNvSpPr/>
          <p:nvPr/>
        </p:nvSpPr>
        <p:spPr>
          <a:xfrm>
            <a:off x="9531350" y="2657475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45650" y="2303760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да, в заданном порядке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4350" y="3014266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8650" y="2744391"/>
            <a:ext cx="2576957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Заранее известна дата нехватки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44850" y="3014266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59150" y="273685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 факт нехватки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226050" y="3014266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40350" y="273685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207250" y="3014266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21550" y="2736850"/>
            <a:ext cx="215836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531350" y="2660650"/>
            <a:ext cx="2146300" cy="356791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35" name="Shape 32"/>
          <p:cNvSpPr/>
          <p:nvPr/>
        </p:nvSpPr>
        <p:spPr>
          <a:xfrm>
            <a:off x="9531350" y="3014266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45650" y="2744391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да, с уведомлением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14350" y="3538736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8650" y="3185021"/>
            <a:ext cx="2576957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Бронь запаса под курс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244850" y="3538736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59150" y="317748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226050" y="3538736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40350" y="3177480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207250" y="3538736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21550" y="3177480"/>
            <a:ext cx="215836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531350" y="3017441"/>
            <a:ext cx="2146300" cy="524470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46" name="Shape 43"/>
          <p:cNvSpPr/>
          <p:nvPr/>
        </p:nvSpPr>
        <p:spPr>
          <a:xfrm>
            <a:off x="9531350" y="3538736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645650" y="3093641"/>
            <a:ext cx="19752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да: берущий видит чужой курс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14350" y="4093567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8650" y="3633291"/>
            <a:ext cx="257695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Общая аптечка нескольких людей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3244850" y="4093567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359150" y="3618111"/>
            <a:ext cx="180517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нет: один файл на Яндекс.Диске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226050" y="4093567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40350" y="3717131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 с PRO у каждого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207250" y="4093567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21550" y="3717131"/>
            <a:ext cx="215836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да, по тарифу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531350" y="3541911"/>
            <a:ext cx="2146300" cy="554831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57" name="Shape 54"/>
          <p:cNvSpPr/>
          <p:nvPr/>
        </p:nvSpPr>
        <p:spPr>
          <a:xfrm>
            <a:off x="9531350" y="4093567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645650" y="3724672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да, вход по QR или коду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14350" y="4648398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28650" y="4188123"/>
            <a:ext cx="257695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Без учётной записи и без сведений о лечении у оператора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3244850" y="4648398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359150" y="4271963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общей аптечки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5226050" y="4648398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40350" y="4172942"/>
            <a:ext cx="180517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 через Google или Apple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7207250" y="4648398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321550" y="4271963"/>
            <a:ext cx="215836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данные у оператора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531350" y="4096742"/>
            <a:ext cx="2146300" cy="554831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68" name="Shape 65"/>
          <p:cNvSpPr/>
          <p:nvPr/>
        </p:nvSpPr>
        <p:spPr>
          <a:xfrm>
            <a:off x="9531350" y="4648398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645650" y="4279503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да, код открыт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14350" y="5356423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28650" y="4910931"/>
            <a:ext cx="2576957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Интеграции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3244850" y="5356423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359150" y="4903391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код маркировки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5226050" y="5356423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340350" y="4903391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штрихкод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7207250" y="4651573"/>
            <a:ext cx="2324100" cy="708025"/>
          </a:xfrm>
          <a:prstGeom prst="rect">
            <a:avLst/>
          </a:prstGeom>
          <a:solidFill>
            <a:srgbClr val="DFC7F2"/>
          </a:solidFill>
          <a:ln/>
        </p:spPr>
      </p:sp>
      <p:sp>
        <p:nvSpPr>
          <p:cNvPr id="77" name="Shape 74"/>
          <p:cNvSpPr/>
          <p:nvPr/>
        </p:nvSpPr>
        <p:spPr>
          <a:xfrm>
            <a:off x="7207250" y="5356423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321550" y="4727773"/>
            <a:ext cx="2158365" cy="574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1174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фото упаковки, взаимодействия, подопечные</a:t>
            </a:r>
            <a:endParaRPr lang="en-US" sz="1174" dirty="0"/>
          </a:p>
        </p:txBody>
      </p:sp>
      <p:sp>
        <p:nvSpPr>
          <p:cNvPr id="79" name="Shape 76"/>
          <p:cNvSpPr/>
          <p:nvPr/>
        </p:nvSpPr>
        <p:spPr>
          <a:xfrm>
            <a:off x="9531350" y="4651573"/>
            <a:ext cx="2146300" cy="708025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80" name="Shape 77"/>
          <p:cNvSpPr/>
          <p:nvPr/>
        </p:nvSpPr>
        <p:spPr>
          <a:xfrm>
            <a:off x="9531350" y="5356423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645650" y="4819551"/>
            <a:ext cx="197523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маркировка и справочник РФ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514350" y="5911255"/>
            <a:ext cx="2730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28650" y="5542359"/>
            <a:ext cx="2576957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Стоимость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3244850" y="5911255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359150" y="5534819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бесплатно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5226050" y="5911255"/>
            <a:ext cx="19812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40350" y="5534819"/>
            <a:ext cx="18051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у каждого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7207250" y="5911255"/>
            <a:ext cx="232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321550" y="5435798"/>
            <a:ext cx="215836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бесплатно 20 лекарств, 90 за 19,99 зл./мес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9531350" y="5359598"/>
            <a:ext cx="2146300" cy="554831"/>
          </a:xfrm>
          <a:prstGeom prst="rect">
            <a:avLst/>
          </a:prstGeom>
          <a:solidFill>
            <a:srgbClr val="DCFF05"/>
          </a:solidFill>
          <a:ln/>
        </p:spPr>
      </p:sp>
      <p:sp>
        <p:nvSpPr>
          <p:cNvPr id="91" name="Shape 88"/>
          <p:cNvSpPr/>
          <p:nvPr/>
        </p:nvSpPr>
        <p:spPr>
          <a:xfrm>
            <a:off x="9531350" y="5911255"/>
            <a:ext cx="21463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645650" y="5542359"/>
            <a:ext cx="1975231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бесплатно</a:t>
            </a:r>
            <a:endParaRPr lang="en-US" sz="1200" dirty="0"/>
          </a:p>
        </p:txBody>
      </p:sp>
      <p:sp>
        <p:nvSpPr>
          <p:cNvPr id="93" name="Text 90"/>
          <p:cNvSpPr/>
          <p:nvPr/>
        </p:nvSpPr>
        <p:spPr>
          <a:xfrm>
            <a:off x="514350" y="6092230"/>
            <a:ext cx="11498199" cy="384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Сознательно за рамками: рекомендации лечения, подбор аналогов, роли доступа в аптечке. «Домашняя аптечка» разобрана по исходному коду, остальные по описаниям разработчиков, сентябрь 2026 г.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Требования к программе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4350" y="1572220"/>
            <a:ext cx="6057900" cy="4252020"/>
          </a:xfrm>
          <a:prstGeom prst="roundRect">
            <a:avLst>
              <a:gd name="adj" fmla="val 2987"/>
            </a:avLst>
          </a:prstGeom>
          <a:solidFill>
            <a:srgbClr val="F5F1FB"/>
          </a:solidFill>
          <a:ln/>
        </p:spPr>
      </p:sp>
      <p:sp>
        <p:nvSpPr>
          <p:cNvPr id="6" name="Text 3"/>
          <p:cNvSpPr/>
          <p:nvPr/>
        </p:nvSpPr>
        <p:spPr>
          <a:xfrm>
            <a:off x="704850" y="1724620"/>
            <a:ext cx="584720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Функциональные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4850" y="2021780"/>
            <a:ext cx="5847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НА ТЕЛЕФОНЕ, БЕЗ СВЯЗИ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4850" y="2645271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850" y="2336403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4.1.1.1–3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00250" y="2328168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Аптечки и упаковки: сведения, пересчёт, перенос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850" y="3106837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850" y="2797969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4.1.1.5–10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00250" y="2789734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Сроки, поиск и фильтры, отчёты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850" y="3568402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850" y="3259534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00250" y="3251299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Курс, напоминание, ответ из уведомления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850" y="4029968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850" y="3721100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00250" y="3712865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Нехватка запаса на курс сообщается заранее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850" y="4122043"/>
            <a:ext cx="58472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ЧЕРЕЗ СЕТЬ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04850" y="4745534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850" y="4436666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000250" y="4428430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Общая аптечка на сервере MedApp, бронь под курс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4850" y="5207099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850" y="4898231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000250" y="4889996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справочника препаратов РФ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04850" y="5668665"/>
            <a:ext cx="5676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850" y="5359797"/>
            <a:ext cx="1257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4.1.1.3.2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00250" y="5351562"/>
            <a:ext cx="451294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Упаковка по коду маркировки «Честного знака»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24650" y="1572220"/>
            <a:ext cx="4953000" cy="4252020"/>
          </a:xfrm>
          <a:prstGeom prst="roundRect">
            <a:avLst>
              <a:gd name="adj" fmla="val 2987"/>
            </a:avLst>
          </a:prstGeom>
          <a:solidFill>
            <a:srgbClr val="DFC7F2"/>
          </a:solidFill>
          <a:ln/>
        </p:spPr>
      </p:sp>
      <p:sp>
        <p:nvSpPr>
          <p:cNvPr id="31" name="Text 28"/>
          <p:cNvSpPr/>
          <p:nvPr/>
        </p:nvSpPr>
        <p:spPr>
          <a:xfrm>
            <a:off x="6902450" y="1724620"/>
            <a:ext cx="473532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Нефункциональные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02450" y="1996380"/>
            <a:ext cx="4597400" cy="1536303"/>
          </a:xfrm>
          <a:prstGeom prst="roundRect">
            <a:avLst>
              <a:gd name="adj" fmla="val 6613"/>
            </a:avLst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7042150" y="2110680"/>
            <a:ext cx="44475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ГЛАВНОЕ: ПРИВАТНОСТЬ ШИРЕ, ЧЕМ В ТЗ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42150" y="2326580"/>
            <a:ext cx="44475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ТЗ (4.6.4.1): сервер не хранит имён, почты и телефонов.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042150" y="2575421"/>
            <a:ext cx="444754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работе: человека выдают и его лекарства и приёмы. В аптечке на троих даже ритм изменений одной пачки подсказывает, кто что принимает.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042150" y="3220343"/>
            <a:ext cx="444754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Поэтому сервер о лечении не знает почти ничего.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902450" y="4064298"/>
            <a:ext cx="45974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2450" y="3725168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3.2.3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058150" y="3716933"/>
            <a:ext cx="354495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 без сети; изменения уходят при связи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902450" y="4599087"/>
            <a:ext cx="45974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2450" y="4259957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4.3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58150" y="4251722"/>
            <a:ext cx="354495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аварийного завершения при любом вводе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902450" y="5133876"/>
            <a:ext cx="45974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2450" y="4794746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3.2.5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058150" y="4786511"/>
            <a:ext cx="354495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Напоминания переживают перезагрузку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902450" y="5668665"/>
            <a:ext cx="45974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02450" y="5329535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3.2.1, 4.6.2–5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058150" y="5321300"/>
            <a:ext cx="354495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10+, Kotlin, Compose; REST, OpenAPI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14350" y="5963940"/>
            <a:ext cx="11163300" cy="487660"/>
          </a:xfrm>
          <a:prstGeom prst="roundRect">
            <a:avLst>
              <a:gd name="adj" fmla="val 26043"/>
            </a:avLst>
          </a:prstGeom>
          <a:solidFill>
            <a:srgbClr val="DCFF05"/>
          </a:solidFill>
          <a:ln/>
        </p:spPr>
      </p:sp>
      <p:sp>
        <p:nvSpPr>
          <p:cNvPr id="50" name="Text 47"/>
          <p:cNvSpPr/>
          <p:nvPr/>
        </p:nvSpPr>
        <p:spPr>
          <a:xfrm>
            <a:off x="704850" y="6090940"/>
            <a:ext cx="111057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Главная инженерная задача: согласовать общий запас, почти ничего не зная о клиентах.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Модель учёта и лечения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Два решения: учитывать упаковку и отделить курс от упаковок.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88741"/>
            <a:ext cx="5505450" cy="4462859"/>
          </a:xfrm>
          <a:prstGeom prst="roundRect">
            <a:avLst>
              <a:gd name="adj" fmla="val 2846"/>
            </a:avLst>
          </a:prstGeom>
          <a:solidFill>
            <a:srgbClr val="F5F1FB"/>
          </a:solidFill>
          <a:ln/>
        </p:spPr>
      </p:sp>
      <p:sp>
        <p:nvSpPr>
          <p:cNvPr id="7" name="Shape 4"/>
          <p:cNvSpPr/>
          <p:nvPr/>
        </p:nvSpPr>
        <p:spPr>
          <a:xfrm>
            <a:off x="704850" y="21665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8" name="Text 5"/>
          <p:cNvSpPr/>
          <p:nvPr/>
        </p:nvSpPr>
        <p:spPr>
          <a:xfrm>
            <a:off x="704850" y="21665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5050" y="2210991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РЕШЕНИЕ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850" y="2522141"/>
            <a:ext cx="5278184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Единица учёта — упаковка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04850" y="2857401"/>
            <a:ext cx="527818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 такое «одно лекарство»? Каждый уровень даёт свой, по-своему правильный ответ: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850" y="3355082"/>
            <a:ext cx="5124450" cy="375841"/>
          </a:xfrm>
          <a:prstGeom prst="roundRect">
            <a:avLst>
              <a:gd name="adj" fmla="val 20275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831850" y="3452217"/>
            <a:ext cx="1638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Вещество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95550" y="3443982"/>
            <a:ext cx="33029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ибупрофен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850" y="3832523"/>
            <a:ext cx="5124450" cy="375841"/>
          </a:xfrm>
          <a:prstGeom prst="roundRect">
            <a:avLst>
              <a:gd name="adj" fmla="val 20275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31850" y="3929658"/>
            <a:ext cx="1638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Торговое название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95550" y="3921423"/>
            <a:ext cx="33029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Нурофен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4850" y="4309963"/>
            <a:ext cx="5124450" cy="375841"/>
          </a:xfrm>
          <a:prstGeom prst="roundRect">
            <a:avLst>
              <a:gd name="adj" fmla="val 20275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31850" y="4407098"/>
            <a:ext cx="1638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Дозировка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95550" y="4398863"/>
            <a:ext cx="33029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200 мг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4850" y="4787404"/>
            <a:ext cx="5124450" cy="375841"/>
          </a:xfrm>
          <a:prstGeom prst="roundRect">
            <a:avLst>
              <a:gd name="adj" fmla="val 20275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31850" y="4884539"/>
            <a:ext cx="1638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Производитель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495550" y="4876304"/>
            <a:ext cx="33029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Reckitt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4850" y="5302945"/>
            <a:ext cx="527818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 срок годности есть только у пачки: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04850" y="5602585"/>
            <a:ext cx="5124450" cy="426641"/>
          </a:xfrm>
          <a:prstGeom prst="roundRect">
            <a:avLst>
              <a:gd name="adj" fmla="val 17860"/>
            </a:avLst>
          </a:prstGeom>
          <a:solidFill>
            <a:srgbClr val="DCFF05"/>
          </a:solidFill>
          <a:ln/>
        </p:spPr>
      </p:sp>
      <p:sp>
        <p:nvSpPr>
          <p:cNvPr id="26" name="Text 23"/>
          <p:cNvSpPr/>
          <p:nvPr/>
        </p:nvSpPr>
        <p:spPr>
          <a:xfrm>
            <a:off x="831850" y="5704185"/>
            <a:ext cx="1638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Упаковка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495550" y="5716885"/>
            <a:ext cx="33029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11 таб, годна до 05.2027, аптечка «Дом»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1988741"/>
            <a:ext cx="5505450" cy="4462859"/>
          </a:xfrm>
          <a:prstGeom prst="roundRect">
            <a:avLst>
              <a:gd name="adj" fmla="val 2846"/>
            </a:avLst>
          </a:prstGeom>
          <a:solidFill>
            <a:srgbClr val="DFC7F2"/>
          </a:solidFill>
          <a:ln/>
        </p:spPr>
      </p:sp>
      <p:sp>
        <p:nvSpPr>
          <p:cNvPr id="29" name="Shape 26"/>
          <p:cNvSpPr/>
          <p:nvPr/>
        </p:nvSpPr>
        <p:spPr>
          <a:xfrm>
            <a:off x="6362700" y="216554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0" name="Text 27"/>
          <p:cNvSpPr/>
          <p:nvPr/>
        </p:nvSpPr>
        <p:spPr>
          <a:xfrm>
            <a:off x="6362700" y="2165548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92900" y="2209998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РЕШЕНИЕ 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62700" y="2520156"/>
            <a:ext cx="5278184" cy="257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Курс отделён от упаковок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62700" y="2853630"/>
            <a:ext cx="5124450" cy="877491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6381750" y="2853630"/>
            <a:ext cx="0" cy="877491"/>
          </a:xfrm>
          <a:prstGeom prst="line">
            <a:avLst/>
          </a:prstGeom>
          <a:noFill/>
          <a:ln w="38100">
            <a:solidFill>
              <a:srgbClr val="102D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40500" y="2967930"/>
            <a:ext cx="4951159" cy="22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 «Нурофен от спины»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540500" y="3202384"/>
            <a:ext cx="4951159" cy="22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таб 3 раза в день, 20 приёмов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540500" y="3436838"/>
            <a:ext cx="4951159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093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записан сам по себе, хоть у врача до покупки</a:t>
            </a:r>
            <a:endParaRPr lang="en-US" sz="1093" dirty="0"/>
          </a:p>
        </p:txBody>
      </p:sp>
      <p:sp>
        <p:nvSpPr>
          <p:cNvPr id="38" name="Text 35"/>
          <p:cNvSpPr/>
          <p:nvPr/>
        </p:nvSpPr>
        <p:spPr>
          <a:xfrm>
            <a:off x="6362700" y="3870821"/>
            <a:ext cx="5278184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Упаковки подключаются источниками в порядке, который задаёт человек: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362700" y="4365526"/>
            <a:ext cx="5124450" cy="567134"/>
          </a:xfrm>
          <a:prstGeom prst="roundRect">
            <a:avLst>
              <a:gd name="adj" fmla="val 13436"/>
            </a:avLst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6489700" y="453479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41" name="Text 38"/>
          <p:cNvSpPr/>
          <p:nvPr/>
        </p:nvSpPr>
        <p:spPr>
          <a:xfrm>
            <a:off x="6489700" y="453479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807200" y="4452938"/>
            <a:ext cx="468953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Дом: начатая пачка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07200" y="4663678"/>
            <a:ext cx="46895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сначала допить её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362700" y="5034260"/>
            <a:ext cx="5124450" cy="567134"/>
          </a:xfrm>
          <a:prstGeom prst="roundRect">
            <a:avLst>
              <a:gd name="adj" fmla="val 13436"/>
            </a:avLst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489700" y="520352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CFF05"/>
          </a:solidFill>
          <a:ln/>
        </p:spPr>
      </p:sp>
      <p:sp>
        <p:nvSpPr>
          <p:cNvPr id="46" name="Text 43"/>
          <p:cNvSpPr/>
          <p:nvPr/>
        </p:nvSpPr>
        <p:spPr>
          <a:xfrm>
            <a:off x="6489700" y="520352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807200" y="5121672"/>
            <a:ext cx="468953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Дача: новая пачка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807200" y="5332413"/>
            <a:ext cx="4689539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затем брать отсюда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362700" y="5702995"/>
            <a:ext cx="5124450" cy="570905"/>
          </a:xfrm>
          <a:prstGeom prst="roundRect">
            <a:avLst>
              <a:gd name="adj" fmla="val 13347"/>
            </a:avLst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6477000" y="5791895"/>
            <a:ext cx="5042726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Пачка кончилась — курс продолжается со следующей. Запись о пачке остаётся: на неё опирается история приёмов.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Обеспечение курса и бронь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Курс берёт дозы из общих пачек, поэтому нужно знать, хватит ли запаса.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88741"/>
            <a:ext cx="3627934" cy="3797399"/>
          </a:xfrm>
          <a:prstGeom prst="roundRect">
            <a:avLst>
              <a:gd name="adj" fmla="val 3501"/>
            </a:avLst>
          </a:prstGeom>
          <a:solidFill>
            <a:srgbClr val="F5F1FB"/>
          </a:solidFill>
          <a:ln/>
        </p:spPr>
      </p:sp>
      <p:sp>
        <p:nvSpPr>
          <p:cNvPr id="7" name="Shape 4"/>
          <p:cNvSpPr/>
          <p:nvPr/>
        </p:nvSpPr>
        <p:spPr>
          <a:xfrm>
            <a:off x="692150" y="21538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8" name="Text 5"/>
          <p:cNvSpPr/>
          <p:nvPr/>
        </p:nvSpPr>
        <p:spPr>
          <a:xfrm>
            <a:off x="692150" y="21538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5050" y="2163961"/>
            <a:ext cx="301731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Обеспечение из выделений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2150" y="2509441"/>
            <a:ext cx="33705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 выделяет каждой пачке число доз: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2150" y="2809081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06450" y="2910681"/>
            <a:ext cx="207548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Дом, остаток 11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97684" y="291068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выделено 11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2150" y="3311922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06450" y="3413522"/>
            <a:ext cx="216705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Дача, остаток 20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86584" y="3413522"/>
            <a:ext cx="914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выделено 9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2150" y="3814763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DCFF05"/>
          </a:solidFill>
          <a:ln/>
        </p:spPr>
      </p:sp>
      <p:sp>
        <p:nvSpPr>
          <p:cNvPr id="18" name="Text 15"/>
          <p:cNvSpPr/>
          <p:nvPr/>
        </p:nvSpPr>
        <p:spPr>
          <a:xfrm>
            <a:off x="806450" y="3916362"/>
            <a:ext cx="24417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Обеспечено приёмов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53284" y="3916362"/>
            <a:ext cx="6477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 из 20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2150" y="4317603"/>
            <a:ext cx="3272334" cy="573881"/>
          </a:xfrm>
          <a:prstGeom prst="roundRect">
            <a:avLst>
              <a:gd name="adj" fmla="val 13278"/>
            </a:avLst>
          </a:prstGeom>
          <a:solidFill>
            <a:srgbClr val="DFC7F2"/>
          </a:solidFill>
          <a:ln/>
        </p:spPr>
      </p:sp>
      <p:sp>
        <p:nvSpPr>
          <p:cNvPr id="21" name="Text 18"/>
          <p:cNvSpPr/>
          <p:nvPr/>
        </p:nvSpPr>
        <p:spPr>
          <a:xfrm>
            <a:off x="806450" y="4406503"/>
            <a:ext cx="31350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 общей аптечке неизрасходованное выделение и есть бронь.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81984" y="1988741"/>
            <a:ext cx="3627934" cy="3797399"/>
          </a:xfrm>
          <a:prstGeom prst="roundRect">
            <a:avLst>
              <a:gd name="adj" fmla="val 3501"/>
            </a:avLst>
          </a:prstGeom>
          <a:solidFill>
            <a:srgbClr val="F5F1FB"/>
          </a:solidFill>
          <a:ln/>
        </p:spPr>
      </p:sp>
      <p:sp>
        <p:nvSpPr>
          <p:cNvPr id="23" name="Shape 20"/>
          <p:cNvSpPr/>
          <p:nvPr/>
        </p:nvSpPr>
        <p:spPr>
          <a:xfrm>
            <a:off x="4459784" y="21538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24" name="Text 21"/>
          <p:cNvSpPr/>
          <p:nvPr/>
        </p:nvSpPr>
        <p:spPr>
          <a:xfrm>
            <a:off x="4459784" y="21538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2684" y="2163961"/>
            <a:ext cx="301731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Выделение в целых дозах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59784" y="2509441"/>
            <a:ext cx="3272334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574084" y="2626320"/>
            <a:ext cx="254640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Доза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128867" y="2617391"/>
            <a:ext cx="215900" cy="215900"/>
          </a:xfrm>
          <a:prstGeom prst="roundRect">
            <a:avLst>
              <a:gd name="adj" fmla="val 20588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95567" y="2617391"/>
            <a:ext cx="215900" cy="215900"/>
          </a:xfrm>
          <a:prstGeom prst="roundRect">
            <a:avLst>
              <a:gd name="adj" fmla="val 20588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59784" y="3042841"/>
            <a:ext cx="3272334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4574084" y="3159720"/>
            <a:ext cx="282110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Пачка А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395567" y="3150791"/>
            <a:ext cx="215900" cy="215900"/>
          </a:xfrm>
          <a:prstGeom prst="roundRect">
            <a:avLst>
              <a:gd name="adj" fmla="val 20588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59784" y="3576241"/>
            <a:ext cx="3272334" cy="4318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4574084" y="3693120"/>
            <a:ext cx="282110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Пачка Б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395567" y="3684191"/>
            <a:ext cx="215900" cy="215900"/>
          </a:xfrm>
          <a:prstGeom prst="roundRect">
            <a:avLst>
              <a:gd name="adj" fmla="val 20588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59784" y="4109641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4574084" y="4211241"/>
            <a:ext cx="27033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таблетках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274917" y="4211241"/>
            <a:ext cx="3937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 = 2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459784" y="4612481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DCFF05"/>
          </a:solidFill>
          <a:ln/>
        </p:spPr>
      </p:sp>
      <p:sp>
        <p:nvSpPr>
          <p:cNvPr id="40" name="Text 37"/>
          <p:cNvSpPr/>
          <p:nvPr/>
        </p:nvSpPr>
        <p:spPr>
          <a:xfrm>
            <a:off x="4574084" y="4714081"/>
            <a:ext cx="265758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Можно принять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230467" y="4714081"/>
            <a:ext cx="4381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0 доз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459784" y="5115322"/>
            <a:ext cx="337050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Одну дозу не собрать из двух пачек, поэтому считаются целые дозы.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49617" y="1988741"/>
            <a:ext cx="3627934" cy="3797399"/>
          </a:xfrm>
          <a:prstGeom prst="roundRect">
            <a:avLst>
              <a:gd name="adj" fmla="val 3501"/>
            </a:avLst>
          </a:prstGeom>
          <a:solidFill>
            <a:srgbClr val="DFC7F2"/>
          </a:solidFill>
          <a:ln/>
        </p:spPr>
      </p:sp>
      <p:sp>
        <p:nvSpPr>
          <p:cNvPr id="44" name="Shape 41"/>
          <p:cNvSpPr/>
          <p:nvPr/>
        </p:nvSpPr>
        <p:spPr>
          <a:xfrm>
            <a:off x="8227417" y="21538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45" name="Text 42"/>
          <p:cNvSpPr/>
          <p:nvPr/>
        </p:nvSpPr>
        <p:spPr>
          <a:xfrm>
            <a:off x="8227417" y="21538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570317" y="2163961"/>
            <a:ext cx="301731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Сосед взял из занятой пачки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227417" y="2509441"/>
            <a:ext cx="33705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 дачи взяли 16 таб мимо курса: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227417" y="2809081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8341717" y="2910681"/>
            <a:ext cx="207548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Дом, остаток 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0432951" y="2910681"/>
            <a:ext cx="10033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выделено 11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227417" y="3311922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8341717" y="3413522"/>
            <a:ext cx="216705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Дача, остаток 4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0521851" y="3413522"/>
            <a:ext cx="914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выделено 4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227417" y="3814763"/>
            <a:ext cx="3272334" cy="401241"/>
          </a:xfrm>
          <a:prstGeom prst="roundRect">
            <a:avLst>
              <a:gd name="adj" fmla="val 18991"/>
            </a:avLst>
          </a:prstGeom>
          <a:solidFill>
            <a:srgbClr val="DCFF05"/>
          </a:solidFill>
          <a:ln/>
        </p:spPr>
      </p:sp>
      <p:sp>
        <p:nvSpPr>
          <p:cNvPr id="55" name="Text 52"/>
          <p:cNvSpPr/>
          <p:nvPr/>
        </p:nvSpPr>
        <p:spPr>
          <a:xfrm>
            <a:off x="8341717" y="3916362"/>
            <a:ext cx="24417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Обеспечено приёмов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0788551" y="3916362"/>
            <a:ext cx="6477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15 из 20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8227417" y="4317603"/>
            <a:ext cx="3272334" cy="802481"/>
          </a:xfrm>
          <a:prstGeom prst="roundRect">
            <a:avLst>
              <a:gd name="adj" fmla="val 9496"/>
            </a:avLst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8341717" y="4419203"/>
            <a:ext cx="3135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УВЕДОМЛЕНИЕ ЗАРАНЕЕ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341717" y="4622403"/>
            <a:ext cx="31350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Нурофена не хватит на 5 приёмов: подключите ещё упаковку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14350" y="5938540"/>
            <a:ext cx="11163300" cy="513060"/>
          </a:xfrm>
          <a:prstGeom prst="roundRect">
            <a:avLst>
              <a:gd name="adj" fmla="val 24753"/>
            </a:avLst>
          </a:prstGeom>
          <a:solidFill>
            <a:srgbClr val="DCFF05"/>
          </a:solidFill>
          <a:ln/>
        </p:spPr>
      </p:sp>
      <p:sp>
        <p:nvSpPr>
          <p:cNvPr id="61" name="Text 58"/>
          <p:cNvSpPr/>
          <p:nvPr/>
        </p:nvSpPr>
        <p:spPr>
          <a:xfrm>
            <a:off x="704850" y="6078240"/>
            <a:ext cx="111057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Назначение врача при нехватке не меняется: сокращаются доступные приёмы, как требует ТЗ, 4.1.1.13.2.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Метод согласования общего запаса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722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Сервер знает остатки и брони, но не знает курсов.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963341"/>
            <a:ext cx="26816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ТОЛЬКО НА ТЕЛЕФОНЕ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57550" y="1963341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ТЕЛЕФОН · ROOM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75450" y="1963341"/>
            <a:ext cx="24199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СЕРВЕР · POSTGRESQL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64650" y="1963341"/>
            <a:ext cx="24853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ТОЛЬКО НА СЕРВЕРЕ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7525" y="2271316"/>
            <a:ext cx="2597150" cy="648891"/>
          </a:xfrm>
          <a:prstGeom prst="roundRect">
            <a:avLst>
              <a:gd name="adj" fmla="val 11254"/>
            </a:avLst>
          </a:prstGeom>
          <a:solidFill>
            <a:srgbClr val="DCFF05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700" y="2388791"/>
            <a:ext cx="24069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courses, course_sources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7700" y="2604691"/>
            <a:ext cx="24069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курсы и порядок источников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60725" y="2271316"/>
            <a:ext cx="1898650" cy="648891"/>
          </a:xfrm>
          <a:prstGeom prst="roundRect">
            <a:avLst>
              <a:gd name="adj" fmla="val 11254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0900" y="2388791"/>
            <a:ext cx="1689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med_kits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90900" y="2604691"/>
            <a:ext cx="16891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название, место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27650" y="2395736"/>
            <a:ext cx="128270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 сервера нет даже названия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53050" y="2789436"/>
            <a:ext cx="12319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778625" y="2271316"/>
            <a:ext cx="2343150" cy="648891"/>
          </a:xfrm>
          <a:prstGeom prst="roundRect">
            <a:avLst>
              <a:gd name="adj" fmla="val 11254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8800" y="2388791"/>
            <a:ext cx="21452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med_kits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08800" y="2604691"/>
            <a:ext cx="214528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 идентификатор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267825" y="2271316"/>
            <a:ext cx="2406650" cy="648891"/>
          </a:xfrm>
          <a:prstGeom prst="roundRect">
            <a:avLst>
              <a:gd name="adj" fmla="val 11254"/>
            </a:avLst>
          </a:prstGeom>
          <a:solidFill>
            <a:srgbClr val="E3E8F4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98000" y="2388791"/>
            <a:ext cx="221068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98000" y="2604691"/>
            <a:ext cx="221068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идентификатор и хеш ключа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17525" y="3066256"/>
            <a:ext cx="2597150" cy="846931"/>
          </a:xfrm>
          <a:prstGeom prst="roundRect">
            <a:avLst>
              <a:gd name="adj" fmla="val 8622"/>
            </a:avLst>
          </a:prstGeom>
          <a:solidFill>
            <a:srgbClr val="DCFF05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700" y="3282752"/>
            <a:ext cx="24069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intakes, course_records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7700" y="3498652"/>
            <a:ext cx="24069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приёмы и история лечения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260725" y="3066256"/>
            <a:ext cx="1898650" cy="846931"/>
          </a:xfrm>
          <a:prstGeom prst="roundRect">
            <a:avLst>
              <a:gd name="adj" fmla="val 8622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90900" y="3282752"/>
            <a:ext cx="1689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90900" y="3498652"/>
            <a:ext cx="16891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остаток, версия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27650" y="3377009"/>
            <a:ext cx="1282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остаток и версия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53050" y="3596084"/>
            <a:ext cx="12319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6778625" y="3066256"/>
            <a:ext cx="2343150" cy="846931"/>
          </a:xfrm>
          <a:prstGeom prst="roundRect">
            <a:avLst>
              <a:gd name="adj" fmla="val 8622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8800" y="3183731"/>
            <a:ext cx="21452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user_drugs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08800" y="3399631"/>
            <a:ext cx="214528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остаток, версия, сумма броней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267825" y="3066256"/>
            <a:ext cx="2406650" cy="846931"/>
          </a:xfrm>
          <a:prstGeom prst="roundRect">
            <a:avLst>
              <a:gd name="adj" fmla="val 8622"/>
            </a:avLst>
          </a:prstGeom>
          <a:solidFill>
            <a:srgbClr val="E3E8F4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98000" y="3282752"/>
            <a:ext cx="221068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user_med_kits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398000" y="3498652"/>
            <a:ext cx="221068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членство в аптечках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17525" y="4059237"/>
            <a:ext cx="2597150" cy="648891"/>
          </a:xfrm>
          <a:prstGeom prst="roundRect">
            <a:avLst>
              <a:gd name="adj" fmla="val 11254"/>
            </a:avLst>
          </a:prstGeom>
          <a:solidFill>
            <a:srgbClr val="DCFF05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700" y="4176712"/>
            <a:ext cx="24069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package_details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7700" y="4392613"/>
            <a:ext cx="24069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срок, доза, цена, заметка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260725" y="4059237"/>
            <a:ext cx="1898650" cy="648891"/>
          </a:xfrm>
          <a:prstGeom prst="roundRect">
            <a:avLst>
              <a:gd name="adj" fmla="val 11254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90900" y="4176712"/>
            <a:ext cx="1689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390900" y="4392613"/>
            <a:ext cx="16891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брони: сумма и своя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327650" y="4270970"/>
            <a:ext cx="1282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брони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353050" y="4490045"/>
            <a:ext cx="12319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6778625" y="4059237"/>
            <a:ext cx="2343150" cy="648891"/>
          </a:xfrm>
          <a:prstGeom prst="roundRect">
            <a:avLst>
              <a:gd name="adj" fmla="val 11254"/>
            </a:avLst>
          </a:prstGeom>
          <a:solidFill>
            <a:srgbClr val="DFC7F2"/>
          </a:solidFill>
          <a:ln w="6350">
            <a:solidFill>
              <a:srgbClr val="102D6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08800" y="4176712"/>
            <a:ext cx="21452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908800" y="4392613"/>
            <a:ext cx="214528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бронь каждого участника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267825" y="4059237"/>
            <a:ext cx="2406650" cy="648891"/>
          </a:xfrm>
          <a:prstGeom prst="roundRect">
            <a:avLst>
              <a:gd name="adj" fmla="val 11254"/>
            </a:avLst>
          </a:prstGeom>
          <a:noFill/>
          <a:ln w="6350">
            <a:solidFill>
              <a:srgbClr val="102D69"/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9372600" y="4185642"/>
            <a:ext cx="226301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на сервере: имён, дат, сроков, курсов, приёмов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14350" y="5458619"/>
            <a:ext cx="3636466" cy="992981"/>
          </a:xfrm>
          <a:prstGeom prst="roundRect">
            <a:avLst>
              <a:gd name="adj" fmla="val 10232"/>
            </a:avLst>
          </a:prstGeom>
          <a:solidFill>
            <a:srgbClr val="F5F1FB"/>
          </a:solidFill>
          <a:ln/>
        </p:spPr>
      </p:sp>
      <p:sp>
        <p:nvSpPr>
          <p:cNvPr id="52" name="Shape 49"/>
          <p:cNvSpPr/>
          <p:nvPr/>
        </p:nvSpPr>
        <p:spPr>
          <a:xfrm>
            <a:off x="679450" y="56110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53" name="Text 50"/>
          <p:cNvSpPr/>
          <p:nvPr/>
        </p:nvSpPr>
        <p:spPr>
          <a:xfrm>
            <a:off x="679450" y="561101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984250" y="5633839"/>
            <a:ext cx="30915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Конфликт решает телефон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79450" y="5903119"/>
            <a:ext cx="340545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Бронь для сервера — заявка, а не замок; он отказывает только расходу больше остатка.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277816" y="5458619"/>
            <a:ext cx="3636466" cy="992981"/>
          </a:xfrm>
          <a:prstGeom prst="roundRect">
            <a:avLst>
              <a:gd name="adj" fmla="val 10232"/>
            </a:avLst>
          </a:prstGeom>
          <a:solidFill>
            <a:srgbClr val="F5F1FB"/>
          </a:solidFill>
          <a:ln/>
        </p:spPr>
      </p:sp>
      <p:sp>
        <p:nvSpPr>
          <p:cNvPr id="57" name="Shape 54"/>
          <p:cNvSpPr/>
          <p:nvPr/>
        </p:nvSpPr>
        <p:spPr>
          <a:xfrm>
            <a:off x="4442916" y="56110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58" name="Text 55"/>
          <p:cNvSpPr/>
          <p:nvPr/>
        </p:nvSpPr>
        <p:spPr>
          <a:xfrm>
            <a:off x="4442916" y="561101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747716" y="5633839"/>
            <a:ext cx="30915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Итог вместо событий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4442916" y="5903119"/>
            <a:ext cx="340545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 и бронь по пачке уходят одним запросом.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8041283" y="5458619"/>
            <a:ext cx="3636466" cy="992981"/>
          </a:xfrm>
          <a:prstGeom prst="roundRect">
            <a:avLst>
              <a:gd name="adj" fmla="val 10232"/>
            </a:avLst>
          </a:prstGeom>
          <a:solidFill>
            <a:srgbClr val="F5F1FB"/>
          </a:solidFill>
          <a:ln/>
        </p:spPr>
      </p:sp>
      <p:sp>
        <p:nvSpPr>
          <p:cNvPr id="62" name="Shape 59"/>
          <p:cNvSpPr/>
          <p:nvPr/>
        </p:nvSpPr>
        <p:spPr>
          <a:xfrm>
            <a:off x="8206383" y="5611019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63" name="Text 60"/>
          <p:cNvSpPr/>
          <p:nvPr/>
        </p:nvSpPr>
        <p:spPr>
          <a:xfrm>
            <a:off x="8206383" y="561101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8511183" y="5633839"/>
            <a:ext cx="309151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Подтверждение без журнала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8206383" y="5903119"/>
            <a:ext cx="340545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повторить операцию, не храня действий: следующий слайд.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Подтверждение операций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Безопасный повтор без журнала в базе.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88741"/>
            <a:ext cx="2984500" cy="4462859"/>
          </a:xfrm>
          <a:prstGeom prst="roundRect">
            <a:avLst>
              <a:gd name="adj" fmla="val 4255"/>
            </a:avLst>
          </a:prstGeom>
          <a:solidFill>
            <a:srgbClr val="F5F1FB"/>
          </a:solidFill>
          <a:ln/>
        </p:spPr>
      </p:sp>
      <p:sp>
        <p:nvSpPr>
          <p:cNvPr id="7" name="Text 4"/>
          <p:cNvSpPr/>
          <p:nvPr/>
        </p:nvSpPr>
        <p:spPr>
          <a:xfrm>
            <a:off x="692150" y="2141141"/>
            <a:ext cx="27077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2150" y="2395141"/>
            <a:ext cx="270776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Ответ потерян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2150" y="2717701"/>
            <a:ext cx="2707767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Приём отмечен в метро: сервер дозу списал, ответ не дошёл.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2150" y="3202682"/>
            <a:ext cx="2707767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Повторить — списать дважды. Не повторять — потерять приём.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2150" y="3687663"/>
            <a:ext cx="2707767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Журнал операций в базе копил бы, кто и когда берёт лекарство: таблица квитанций отвергнута.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25850" y="1988741"/>
            <a:ext cx="5194300" cy="4462859"/>
          </a:xfrm>
          <a:prstGeom prst="roundRect">
            <a:avLst>
              <a:gd name="adj" fmla="val 2846"/>
            </a:avLst>
          </a:prstGeom>
          <a:solidFill>
            <a:srgbClr val="DFC7F2"/>
          </a:solidFill>
          <a:ln/>
        </p:spPr>
      </p:sp>
      <p:sp>
        <p:nvSpPr>
          <p:cNvPr id="13" name="Text 10"/>
          <p:cNvSpPr/>
          <p:nvPr/>
        </p:nvSpPr>
        <p:spPr>
          <a:xfrm>
            <a:off x="3803650" y="2141141"/>
            <a:ext cx="49838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03650" y="2395141"/>
            <a:ext cx="498386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Повтор с тем же номером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06825" y="2720876"/>
            <a:ext cx="4832350" cy="3284141"/>
          </a:xfrm>
          <a:prstGeom prst="roundRect">
            <a:avLst>
              <a:gd name="adj" fmla="val 2997"/>
            </a:avLst>
          </a:prstGeom>
          <a:solidFill>
            <a:srgbClr val="FFFFFF"/>
          </a:solidFill>
          <a:ln w="6350">
            <a:solidFill>
              <a:srgbClr val="DF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87800" y="2863751"/>
            <a:ext cx="230225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Телефон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55944" y="2863751"/>
            <a:ext cx="230225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45100" y="3137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9" name="Text 16"/>
          <p:cNvSpPr/>
          <p:nvPr/>
        </p:nvSpPr>
        <p:spPr>
          <a:xfrm>
            <a:off x="5245100" y="3137991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73573" y="3145929"/>
            <a:ext cx="1752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расход, номер N, версия 7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987800" y="3417391"/>
            <a:ext cx="43307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pic>
        <p:nvPicPr>
          <p:cNvPr id="2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18500" y="3353891"/>
            <a:ext cx="139700" cy="1270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987800" y="3557091"/>
            <a:ext cx="4470400" cy="276225"/>
          </a:xfrm>
          <a:prstGeom prst="roundRect">
            <a:avLst>
              <a:gd name="adj" fmla="val 22989"/>
            </a:avLst>
          </a:prstGeom>
          <a:solidFill>
            <a:srgbClr val="F5F1FB"/>
          </a:solidFill>
          <a:ln/>
        </p:spPr>
      </p:sp>
      <p:sp>
        <p:nvSpPr>
          <p:cNvPr id="24" name="Text 20"/>
          <p:cNvSpPr/>
          <p:nvPr/>
        </p:nvSpPr>
        <p:spPr>
          <a:xfrm>
            <a:off x="3999230" y="3607891"/>
            <a:ext cx="44475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списал и запомнил N в памяти, до суток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270500" y="39095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26" name="Text 22"/>
          <p:cNvSpPr/>
          <p:nvPr/>
        </p:nvSpPr>
        <p:spPr>
          <a:xfrm>
            <a:off x="5270500" y="390951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499100" y="3917454"/>
            <a:ext cx="1701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 потерян в тоннеле</a:t>
            </a:r>
            <a:endParaRPr lang="en-US" sz="1100" dirty="0"/>
          </a:p>
        </p:txBody>
      </p:sp>
      <p:pic>
        <p:nvPicPr>
          <p:cNvPr id="28" name="Image 2" descr="arrow-lef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87800" y="4125416"/>
            <a:ext cx="139700" cy="12700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127500" y="4188916"/>
            <a:ext cx="43307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5054600" y="43286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1" name="Text 26"/>
          <p:cNvSpPr/>
          <p:nvPr/>
        </p:nvSpPr>
        <p:spPr>
          <a:xfrm>
            <a:off x="5054600" y="432861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77358" y="4336554"/>
            <a:ext cx="21452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повтор: тот же запрос, номер 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987800" y="4608016"/>
            <a:ext cx="43307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pic>
        <p:nvPicPr>
          <p:cNvPr id="34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18500" y="4544516"/>
            <a:ext cx="139700" cy="1270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956175" y="47477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6" name="Text 30"/>
          <p:cNvSpPr/>
          <p:nvPr/>
        </p:nvSpPr>
        <p:spPr>
          <a:xfrm>
            <a:off x="4956175" y="4747716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5175980" y="4755654"/>
            <a:ext cx="2348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тот же итог, второго списания нет</a:t>
            </a:r>
            <a:endParaRPr lang="en-US" sz="1100" dirty="0"/>
          </a:p>
        </p:txBody>
      </p:sp>
      <p:pic>
        <p:nvPicPr>
          <p:cNvPr id="38" name="Image 4" descr="arrow-lef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87800" y="4963616"/>
            <a:ext cx="139700" cy="1270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127500" y="5027116"/>
            <a:ext cx="43307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3987800" y="5166816"/>
            <a:ext cx="4470400" cy="276225"/>
          </a:xfrm>
          <a:prstGeom prst="roundRect">
            <a:avLst>
              <a:gd name="adj" fmla="val 22989"/>
            </a:avLst>
          </a:prstGeom>
          <a:solidFill>
            <a:srgbClr val="F5F1FB"/>
          </a:solidFill>
          <a:ln/>
        </p:spPr>
      </p:sp>
      <p:sp>
        <p:nvSpPr>
          <p:cNvPr id="41" name="Text 34"/>
          <p:cNvSpPr/>
          <p:nvPr/>
        </p:nvSpPr>
        <p:spPr>
          <a:xfrm>
            <a:off x="3999230" y="5217616"/>
            <a:ext cx="44475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пачку успел изменить сосед?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514850" y="55192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43" name="Text 36"/>
          <p:cNvSpPr/>
          <p:nvPr/>
        </p:nvSpPr>
        <p:spPr>
          <a:xfrm>
            <a:off x="4514850" y="5519241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721416" y="5527179"/>
            <a:ext cx="3257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отказ по версии: перечитать пачку и повторить</a:t>
            </a:r>
            <a:endParaRPr lang="en-US" sz="1100" dirty="0"/>
          </a:p>
        </p:txBody>
      </p:sp>
      <p:pic>
        <p:nvPicPr>
          <p:cNvPr id="45" name="Image 5" descr="arrow-lef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87800" y="5735141"/>
            <a:ext cx="139700" cy="1270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4127500" y="5798641"/>
            <a:ext cx="43307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947150" y="1988741"/>
            <a:ext cx="2730500" cy="4462859"/>
          </a:xfrm>
          <a:prstGeom prst="roundRect">
            <a:avLst>
              <a:gd name="adj" fmla="val 4651"/>
            </a:avLst>
          </a:prstGeom>
          <a:solidFill>
            <a:srgbClr val="F5F1FB"/>
          </a:solidFill>
          <a:ln/>
        </p:spPr>
      </p:sp>
      <p:sp>
        <p:nvSpPr>
          <p:cNvPr id="48" name="Text 40"/>
          <p:cNvSpPr/>
          <p:nvPr/>
        </p:nvSpPr>
        <p:spPr>
          <a:xfrm>
            <a:off x="9124950" y="2141141"/>
            <a:ext cx="24461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ОСТАТОК РИСКА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9124950" y="2395141"/>
            <a:ext cx="244614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Назван и принят</a:t>
            </a:r>
            <a:endParaRPr lang="en-US" sz="1600" dirty="0"/>
          </a:p>
        </p:txBody>
      </p:sp>
      <p:sp>
        <p:nvSpPr>
          <p:cNvPr id="50" name="Text 42"/>
          <p:cNvSpPr/>
          <p:nvPr/>
        </p:nvSpPr>
        <p:spPr>
          <a:xfrm>
            <a:off x="9124950" y="2717701"/>
            <a:ext cx="2446147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Больше суток без связи и чужое изменение пачки: повтор может не узнать свою операцию.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9124950" y="3400723"/>
            <a:ext cx="2446147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Расхождение видно на экране синхронизации и исправляется пересчётом.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9124950" y="4083745"/>
            <a:ext cx="2446147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Ниже нуля сервер не списывает никогда.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Архитектура системы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595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Правила предметной области не зависят ни от хранения, ни от сети.</a:t>
            </a:r>
            <a:endParaRPr lang="en-US" sz="1800" dirty="0"/>
          </a:p>
        </p:txBody>
      </p:sp>
      <p:pic>
        <p:nvPicPr>
          <p:cNvPr id="6" name="Image 1" descr="Кольца Android-приложения с доменом в центре, слои сервера сверху вниз и путь операции «Принял» в семь шагов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514350" y="1937941"/>
            <a:ext cx="111633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Средства реализации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722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Три программы; каждое средство выбрано под требование.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63341"/>
            <a:ext cx="3905250" cy="4488259"/>
          </a:xfrm>
          <a:prstGeom prst="roundRect">
            <a:avLst>
              <a:gd name="adj" fmla="val 3252"/>
            </a:avLst>
          </a:prstGeom>
          <a:solidFill>
            <a:srgbClr val="F5F1FB"/>
          </a:solidFill>
          <a:ln/>
        </p:spPr>
      </p:sp>
      <p:sp>
        <p:nvSpPr>
          <p:cNvPr id="7" name="Text 4"/>
          <p:cNvSpPr/>
          <p:nvPr/>
        </p:nvSpPr>
        <p:spPr>
          <a:xfrm>
            <a:off x="704850" y="2128441"/>
            <a:ext cx="3629978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Приложение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850" y="2389981"/>
            <a:ext cx="3629978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850" y="3535263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850" y="288548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Kotlin, Jetpack Compose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850" y="310892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язык и интерфейс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850" y="4451350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850" y="3702546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Room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850" y="3925987"/>
            <a:ext cx="362997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основное хранилище, а не кэш: всё работает без сети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850" y="5367437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850" y="4618633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WorkManager, AlarmManager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4850" y="4842073"/>
            <a:ext cx="362997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напоминания вовремя, в том числе после перезагрузки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4850" y="6283523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850" y="563374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ML Kit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850" y="585718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распознаёт код маркировки и QR приглашения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1963341"/>
            <a:ext cx="3905250" cy="4488259"/>
          </a:xfrm>
          <a:prstGeom prst="roundRect">
            <a:avLst>
              <a:gd name="adj" fmla="val 3252"/>
            </a:avLst>
          </a:prstGeom>
          <a:solidFill>
            <a:srgbClr val="E3E8F4"/>
          </a:solidFill>
          <a:ln/>
        </p:spPr>
      </p:sp>
      <p:sp>
        <p:nvSpPr>
          <p:cNvPr id="22" name="Text 19"/>
          <p:cNvSpPr/>
          <p:nvPr/>
        </p:nvSpPr>
        <p:spPr>
          <a:xfrm>
            <a:off x="4762500" y="2128441"/>
            <a:ext cx="3629978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Сервер общих аптечек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62500" y="2389981"/>
            <a:ext cx="3629978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Kotlin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62500" y="3535263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62500" y="288548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62500" y="310892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и доступ участников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62500" y="4451350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62500" y="3801566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62500" y="4025007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и нечёткий поиск по справочнику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62500" y="5367437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62500" y="4618633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Exposed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762500" y="4842073"/>
            <a:ext cx="362997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явные запросы: проверка версии пачки в самом запросе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62500" y="6283523"/>
            <a:ext cx="352425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62500" y="563374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Testcontainers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762500" y="5857180"/>
            <a:ext cx="3629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проверки на настоящей СУБД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629650" y="1963341"/>
            <a:ext cx="3048000" cy="4488259"/>
          </a:xfrm>
          <a:prstGeom prst="roundRect">
            <a:avLst>
              <a:gd name="adj" fmla="val 4167"/>
            </a:avLst>
          </a:prstGeom>
          <a:solidFill>
            <a:srgbClr val="DFC7F2"/>
          </a:solidFill>
          <a:ln/>
        </p:spPr>
      </p:sp>
      <p:sp>
        <p:nvSpPr>
          <p:cNvPr id="37" name="Text 34"/>
          <p:cNvSpPr/>
          <p:nvPr/>
        </p:nvSpPr>
        <p:spPr>
          <a:xfrm>
            <a:off x="8820150" y="2128441"/>
            <a:ext cx="274701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Сборщик справочника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820150" y="2389981"/>
            <a:ext cx="274701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820150" y="4121745"/>
            <a:ext cx="2667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820150" y="3079750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requests, BeautifulSoup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820150" y="3303191"/>
            <a:ext cx="274701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разовый сбор препаратов с сайта Vidal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820150" y="5624314"/>
            <a:ext cx="26670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20150" y="4681339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820150" y="4904780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загрузка справочника в PostgreSQL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820150" y="5741789"/>
            <a:ext cx="2747010" cy="5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Справочник собирается один раз; в работе приложения сборщик не участвует.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824103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Демонстрация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824103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Видео, 2:13: от пропущенных приёмов до скана настоящей коробки.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2764433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2455267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14450" y="2506067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Пропуски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7050" y="2512417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вопрос о вчерашних приёмах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4350" y="3127573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350" y="2818408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0:09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14450" y="2869208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Аптечки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67050" y="2875558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просроченное видно сразу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4350" y="3490714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4350" y="3181548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0:16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14450" y="3232348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Упаковка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67050" y="3238698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остаток, срок, занято курсом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4350" y="3853855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350" y="3544689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0:25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14450" y="3595489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Курс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67050" y="3601839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нехватка и что сделать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4350" y="4216995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4350" y="3907830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0:38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14450" y="3958630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Источники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067050" y="3964980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пачка с дачи первой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4350" y="4580136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350" y="4270970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0:58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14450" y="4321770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Напоминание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067050" y="4328120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 из шторки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14350" y="4943277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634111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1:11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314450" y="4684911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Общий запас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067050" y="4691261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бронь, «в пути», отказ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4350" y="5306417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" y="4997252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1:27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314450" y="5048052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Отчёты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067050" y="5054402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есть, уйдёт, принято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14350" y="5669558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4350" y="5360392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1:34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314450" y="5411192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Приглашение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3067050" y="5417542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QR или код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14350" y="6032698"/>
            <a:ext cx="8001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5723533"/>
            <a:ext cx="7493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1:54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314450" y="5774333"/>
            <a:ext cx="1701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Сканер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3067050" y="5780683"/>
            <a:ext cx="561174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код маркировки</a:t>
            </a:r>
            <a:endParaRPr lang="en-US" sz="1200" dirty="0"/>
          </a:p>
        </p:txBody>
      </p:sp>
      <p:pic>
        <p:nvPicPr>
          <p:cNvPr id="46" name="Демонстрация MedApp (видео)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8890000" y="406400"/>
            <a:ext cx="2705100" cy="6045200"/>
          </a:xfrm>
          <a:prstGeom prst="roundRect">
            <a:avLst>
              <a:gd name="adj" fmla="val 6573"/>
            </a:avLst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6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Результаты и направления развития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33400" y="1610320"/>
            <a:ext cx="0" cy="1051322"/>
          </a:xfrm>
          <a:prstGeom prst="line">
            <a:avLst/>
          </a:prstGeom>
          <a:noFill/>
          <a:ln w="38100">
            <a:solidFill>
              <a:srgbClr val="DCFF0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0250" y="1648420"/>
            <a:ext cx="1127582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Требование, занимавшее в ТЗ одну строку, определило устройство системы сильнее любой функции.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0250" y="2260402"/>
            <a:ext cx="1127582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Приватность решила, где живёт лечение, кто разрешает конфликты и как подтверждаются операции. Общий запас с бронью под курс работает без учётной записи, имени и контактов.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4350" y="2839442"/>
            <a:ext cx="762622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Все задачи выполнены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3527723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10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4350" y="320476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4550" y="3228280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Анализ области и аналогов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41650" y="3137495"/>
            <a:ext cx="502310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 у одного аналога нет курса по упаковкам, брони и общего запаса без сбора данных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4350" y="3944937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14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4350" y="36219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4550" y="3645495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Требования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041650" y="3645495"/>
            <a:ext cx="502310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ТЗ; приватность по умолчанию как главное требование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14350" y="4362152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18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4350" y="4039195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550" y="4062710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Модель учёта и лечения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041650" y="4062710"/>
            <a:ext cx="502310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источники в порядке, выделение в дозах, обеспечение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14350" y="4779367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22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14350" y="445641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4550" y="4479925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Метод согласования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041650" y="4479925"/>
            <a:ext cx="502310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без сведений о лечении, безопасный повтор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14350" y="5196582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26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14350" y="4873625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4550" y="4897140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Справочник и сервер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041650" y="4897140"/>
            <a:ext cx="502310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справочник Vidal; сервер общих аптечек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14350" y="5613797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30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14350" y="529084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4550" y="5314355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Android-приложение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3041650" y="5314355"/>
            <a:ext cx="5023104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учёт, лечение, общая аптечка, сканер, отчёты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14350" y="6031012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34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4350" y="5708055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44550" y="5731570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Испытания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3041650" y="5640784"/>
            <a:ext cx="502310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семь видов проверок, у каждого найденный дефект; покрытие строк: сервер 97,7 %, приложение 93,5 %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14350" y="6448227"/>
            <a:ext cx="74041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pic>
        <p:nvPicPr>
          <p:cNvPr id="38" name="Image 8" descr="CheckCircl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4350" y="612527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44550" y="6148784"/>
            <a:ext cx="2158365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Документация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3041650" y="6057999"/>
            <a:ext cx="502310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ТЗ, пояснительная записка, ПМИ, руководство оператора, текст программы по ГОСТ ЕСПД; 155 с.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8121650" y="2839442"/>
            <a:ext cx="3556000" cy="3612158"/>
          </a:xfrm>
          <a:prstGeom prst="roundRect">
            <a:avLst>
              <a:gd name="adj" fmla="val 3571"/>
            </a:avLst>
          </a:prstGeom>
          <a:solidFill>
            <a:srgbClr val="F5F1FB"/>
          </a:solidFill>
          <a:ln/>
        </p:spPr>
      </p:sp>
      <p:sp>
        <p:nvSpPr>
          <p:cNvPr id="42" name="Text 31"/>
          <p:cNvSpPr/>
          <p:nvPr/>
        </p:nvSpPr>
        <p:spPr>
          <a:xfrm>
            <a:off x="8312150" y="3004542"/>
            <a:ext cx="327025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Развитие</a:t>
            </a:r>
            <a:endParaRPr lang="en-US" sz="1600" dirty="0"/>
          </a:p>
        </p:txBody>
      </p:sp>
      <p:sp>
        <p:nvSpPr>
          <p:cNvPr id="43" name="Text 32"/>
          <p:cNvSpPr/>
          <p:nvPr/>
        </p:nvSpPr>
        <p:spPr>
          <a:xfrm>
            <a:off x="8312150" y="3367683"/>
            <a:ext cx="327025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Приложение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8312150" y="3588643"/>
            <a:ext cx="3270250" cy="5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расписания «через день» и «раз в несколько дней»; правка записанных ответов и просмотр прошлых дней; поиск по справочнику без сети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8312150" y="4273054"/>
            <a:ext cx="327025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46" name="Text 35"/>
          <p:cNvSpPr/>
          <p:nvPr/>
        </p:nvSpPr>
        <p:spPr>
          <a:xfrm>
            <a:off x="8312150" y="4494014"/>
            <a:ext cx="327025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второй рубеж доступа политиками самой базы данных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8312150" y="4996855"/>
            <a:ext cx="3270250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312150" y="5217815"/>
            <a:ext cx="32702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публикация в RuStore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8312150" y="5810250"/>
            <a:ext cx="327025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Развитие ведётся задачами в репозиториях проекта; второй рубеж доступа — открытая задача сервера.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Список использованных источников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4350" y="1562695"/>
            <a:ext cx="83947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4350" y="1642070"/>
            <a:ext cx="1638300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Нормативные документы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03450" y="1642070"/>
            <a:ext cx="266700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57450" y="1642070"/>
            <a:ext cx="6645148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ГОСТ 19.101-77, 19.201-78, 19.301-79, 19.401-78, 19.404-79, 19.505-79. Единая система программной документации. – Текст : непосредственный.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4350" y="2065238"/>
            <a:ext cx="83947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4350" y="2144613"/>
            <a:ext cx="1638300" cy="1264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Статистика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03450" y="2144613"/>
            <a:ext cx="266700" cy="54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7450" y="2144613"/>
            <a:ext cx="6645148" cy="54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Achterbosch M. A. [и др.]. Clinical and economic consequences of medication nonadherence: a review of systematic reviews // Frontiers in Pharmacology. – 2025. – Т. 16. – URL: https://doi.org/10.3389/fphar.2025.1570359 (дата обращения: 30.09.2026). – Текст : электронный.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03450" y="2697559"/>
            <a:ext cx="266700" cy="71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57450" y="2697559"/>
            <a:ext cx="6645148" cy="711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Лекарства и медикаменты : опрос / Фонд «Общественное мнение». – 2023. – URL: https://fom.ru/Zdorove-i-sport/14863 ; Почему люди продолжают приём лекарства после истечения его срока годности / Фармвестник ; по данным агентства MRF. – 2025. – URL: https://pharmvestnik.ru (дата обращения: 30.09.2026). – Текст : электронный.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4350" y="3463429"/>
            <a:ext cx="83947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4350" y="3542804"/>
            <a:ext cx="1638300" cy="1508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Технологии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03450" y="3542804"/>
            <a:ext cx="266700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57450" y="3542804"/>
            <a:ext cx="6645148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Kotlin, Exposed, Ktor : документация / JetBrains. – URL: https://kotlinlang.org ; https://www.jetbrains.com/help/exposed (дата обращения: 24.09.2026). – Текст : электронный.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03450" y="3923209"/>
            <a:ext cx="266700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57450" y="3923209"/>
            <a:ext cx="6645148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Jetpack Compose, Room, WorkManager, ML Kit : документация / Google. – URL: https://developer.android.com (дата обращения: 24.09.2026). – Текст : электронный.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03450" y="4303613"/>
            <a:ext cx="266700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457450" y="4303613"/>
            <a:ext cx="6645148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 : документация / Broadcom. – URL: https://docs.spring.io/spring-boot (дата обращения: 24.09.2026). – Текст : электронный.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03450" y="4684018"/>
            <a:ext cx="266700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57450" y="4684018"/>
            <a:ext cx="6645148" cy="3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Documentation / PostgreSQL Global Development Group. – URL: https://www.postgresql.org/docs (дата обращения: 24.09.2026). – Текст : электронный.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4350" y="5105698"/>
            <a:ext cx="83947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4350" y="5185073"/>
            <a:ext cx="16383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Аналоги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203450" y="5185073"/>
            <a:ext cx="2667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457450" y="5185073"/>
            <a:ext cx="6645148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«Домашняя аптечка» : исходный код. – URL: https://github.com/pewaru-333 ; «Аптечка. Учёт медикаментов». – URL: https://decsoft.ru ; mojApteczka. – URL: https://mojapteczka.pl (дата обращения: 24.09.2026). – Текст : электронный.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4350" y="5780187"/>
            <a:ext cx="83947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4350" y="5859562"/>
            <a:ext cx="16383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Проект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203450" y="5859562"/>
            <a:ext cx="2667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457450" y="5859562"/>
            <a:ext cx="6645148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MedApp : репозитории проекта / Н. Волошин. – URL: https://github.com/Kert0n/MedApp ; https://github.com/Kert0n/MedApp-Android ; https://github.com/Kert0n/MedApp-Server (дата обращения: 24.09.2026). – Текст : электронный.</a:t>
            </a:r>
            <a:endParaRPr lang="en-US" sz="1100" dirty="0"/>
          </a:p>
        </p:txBody>
      </p:sp>
      <p:pic>
        <p:nvPicPr>
          <p:cNvPr id="33" name="Image 1" descr="QR: github.com/Kert0n/MedAp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40900" y="1559520"/>
            <a:ext cx="1333500" cy="13335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121900" y="2931120"/>
            <a:ext cx="5715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Проект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9511602" y="3167261"/>
            <a:ext cx="1792097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github.com/Kert0n/MedApp</a:t>
            </a:r>
            <a:endParaRPr lang="en-US" sz="1100" dirty="0"/>
          </a:p>
        </p:txBody>
      </p:sp>
      <p:pic>
        <p:nvPicPr>
          <p:cNvPr id="36" name="Image 2" descr="QR: github.com/Kert0n/MedApp-Androi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40900" y="3513931"/>
            <a:ext cx="1333500" cy="13335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918700" y="4885531"/>
            <a:ext cx="9779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Приложение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9246711" y="5121672"/>
            <a:ext cx="2321877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github.com/Kert0n/MedApp-Android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2379960"/>
            <a:ext cx="11498199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spc="-10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Приложение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14350" y="32105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Слайды для вопросов комиссии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37413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37413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9950" y="3769320"/>
            <a:ext cx="13335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Сценарии работы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4350" y="40842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40842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9950" y="4112220"/>
            <a:ext cx="310019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Функциональные требования полностью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4350" y="44271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44271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9950" y="4455120"/>
            <a:ext cx="328333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Нефункциональные требования полностью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4350" y="4770041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6" name="Text 13"/>
          <p:cNvSpPr/>
          <p:nvPr/>
        </p:nvSpPr>
        <p:spPr>
          <a:xfrm>
            <a:off x="514350" y="4770041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9950" y="4798020"/>
            <a:ext cx="172085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Испытания полностью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Сценарии работы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59520"/>
            <a:ext cx="11498199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Основной сценарий выполняется на одном устройстве; второй, с общей аптечкой, порождает все трудности метода.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2189361"/>
            <a:ext cx="6134100" cy="4115991"/>
          </a:xfrm>
          <a:prstGeom prst="roundRect">
            <a:avLst>
              <a:gd name="adj" fmla="val 3086"/>
            </a:avLst>
          </a:prstGeom>
          <a:solidFill>
            <a:srgbClr val="F5F1FB"/>
          </a:solidFill>
          <a:ln/>
        </p:spPr>
      </p:sp>
      <p:sp>
        <p:nvSpPr>
          <p:cNvPr id="7" name="Text 4"/>
          <p:cNvSpPr/>
          <p:nvPr/>
        </p:nvSpPr>
        <p:spPr>
          <a:xfrm>
            <a:off x="654050" y="2303661"/>
            <a:ext cx="603034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 устройстве</a:t>
            </a:r>
            <a:endParaRPr lang="en-US" sz="1600" dirty="0"/>
          </a:p>
        </p:txBody>
      </p:sp>
      <p:pic>
        <p:nvPicPr>
          <p:cNvPr id="8" name="Image 1" descr="Завести упаковку по коду или вручную">    </p:cNvPr>
          <p:cNvPicPr>
            <a:picLocks noChangeAspect="1"/>
          </p:cNvPicPr>
          <p:nvPr/>
        </p:nvPicPr>
        <p:blipFill>
          <a:blip r:embed="rId2"/>
          <a:srcRect l="0" r="0" t="-217" b="-217"/>
          <a:stretch/>
        </p:blipFill>
        <p:spPr>
          <a:xfrm>
            <a:off x="6604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6572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40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1" name="Text 7"/>
          <p:cNvSpPr/>
          <p:nvPr/>
        </p:nvSpPr>
        <p:spPr>
          <a:xfrm>
            <a:off x="6540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08050" y="5702102"/>
            <a:ext cx="11557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Завести упаковку по коду или вручную</a:t>
            </a:r>
            <a:endParaRPr lang="en-US" sz="1000" dirty="0"/>
          </a:p>
        </p:txBody>
      </p:sp>
      <p:pic>
        <p:nvPicPr>
          <p:cNvPr id="13" name="Image 2" descr="Назначить курс и его источники">    </p:cNvPr>
          <p:cNvPicPr>
            <a:picLocks noChangeAspect="1"/>
          </p:cNvPicPr>
          <p:nvPr/>
        </p:nvPicPr>
        <p:blipFill>
          <a:blip r:embed="rId3"/>
          <a:srcRect l="0" r="0" t="-555" b="-555"/>
          <a:stretch/>
        </p:blipFill>
        <p:spPr>
          <a:xfrm>
            <a:off x="21590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14" name="Shape 9"/>
          <p:cNvSpPr/>
          <p:nvPr/>
        </p:nvSpPr>
        <p:spPr>
          <a:xfrm>
            <a:off x="21558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1526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16" name="Text 11"/>
          <p:cNvSpPr/>
          <p:nvPr/>
        </p:nvSpPr>
        <p:spPr>
          <a:xfrm>
            <a:off x="21526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406650" y="5702102"/>
            <a:ext cx="1155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Назначить курс и его источники</a:t>
            </a:r>
            <a:endParaRPr lang="en-US" sz="1000" dirty="0"/>
          </a:p>
        </p:txBody>
      </p:sp>
      <p:pic>
        <p:nvPicPr>
          <p:cNvPr id="18" name="Image 3" descr="Напоминание в назначенное время">    </p:cNvPr>
          <p:cNvPicPr>
            <a:picLocks noChangeAspect="1"/>
          </p:cNvPicPr>
          <p:nvPr/>
        </p:nvPicPr>
        <p:blipFill>
          <a:blip r:embed="rId4"/>
          <a:srcRect l="0" r="0" t="-217" b="-217"/>
          <a:stretch/>
        </p:blipFill>
        <p:spPr>
          <a:xfrm>
            <a:off x="36576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19" name="Shape 13"/>
          <p:cNvSpPr/>
          <p:nvPr/>
        </p:nvSpPr>
        <p:spPr>
          <a:xfrm>
            <a:off x="36544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6512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21" name="Text 15"/>
          <p:cNvSpPr/>
          <p:nvPr/>
        </p:nvSpPr>
        <p:spPr>
          <a:xfrm>
            <a:off x="36512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905250" y="5702102"/>
            <a:ext cx="11557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Напоминание в назначенное время</a:t>
            </a:r>
            <a:endParaRPr lang="en-US" sz="1000" dirty="0"/>
          </a:p>
        </p:txBody>
      </p:sp>
      <p:pic>
        <p:nvPicPr>
          <p:cNvPr id="23" name="Image 4" descr="Ответ списывает дозу из пачки">    </p:cNvPr>
          <p:cNvPicPr>
            <a:picLocks noChangeAspect="1"/>
          </p:cNvPicPr>
          <p:nvPr/>
        </p:nvPicPr>
        <p:blipFill>
          <a:blip r:embed="rId5"/>
          <a:srcRect l="0" r="0" t="-217" b="-217"/>
          <a:stretch/>
        </p:blipFill>
        <p:spPr>
          <a:xfrm>
            <a:off x="51562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24" name="Shape 17"/>
          <p:cNvSpPr/>
          <p:nvPr/>
        </p:nvSpPr>
        <p:spPr>
          <a:xfrm>
            <a:off x="51530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1498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26" name="Text 19"/>
          <p:cNvSpPr/>
          <p:nvPr/>
        </p:nvSpPr>
        <p:spPr>
          <a:xfrm>
            <a:off x="51498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03850" y="5702102"/>
            <a:ext cx="1155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 списывает дозу из пачки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826250" y="2189361"/>
            <a:ext cx="4635500" cy="4115991"/>
          </a:xfrm>
          <a:prstGeom prst="roundRect">
            <a:avLst>
              <a:gd name="adj" fmla="val 3086"/>
            </a:avLst>
          </a:prstGeom>
          <a:solidFill>
            <a:srgbClr val="DFC7F2"/>
          </a:solidFill>
          <a:ln/>
        </p:spPr>
      </p:sp>
      <p:sp>
        <p:nvSpPr>
          <p:cNvPr id="29" name="Text 22"/>
          <p:cNvSpPr/>
          <p:nvPr/>
        </p:nvSpPr>
        <p:spPr>
          <a:xfrm>
            <a:off x="6965950" y="2303661"/>
            <a:ext cx="448678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 сетью</a:t>
            </a:r>
            <a:endParaRPr lang="en-US" sz="1600" dirty="0"/>
          </a:p>
        </p:txBody>
      </p:sp>
      <p:pic>
        <p:nvPicPr>
          <p:cNvPr id="30" name="Image 5" descr="Сделать аптечку общей, пригласить">    </p:cNvPr>
          <p:cNvPicPr>
            <a:picLocks noChangeAspect="1"/>
          </p:cNvPicPr>
          <p:nvPr/>
        </p:nvPicPr>
        <p:blipFill>
          <a:blip r:embed="rId6"/>
          <a:srcRect l="0" r="0" t="-217" b="-217"/>
          <a:stretch/>
        </p:blipFill>
        <p:spPr>
          <a:xfrm>
            <a:off x="69723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31" name="Shape 23"/>
          <p:cNvSpPr/>
          <p:nvPr/>
        </p:nvSpPr>
        <p:spPr>
          <a:xfrm>
            <a:off x="69691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9659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3" name="Text 25"/>
          <p:cNvSpPr/>
          <p:nvPr/>
        </p:nvSpPr>
        <p:spPr>
          <a:xfrm>
            <a:off x="69659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219950" y="5702102"/>
            <a:ext cx="11557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Сделать аптечку общей, пригласить</a:t>
            </a:r>
            <a:endParaRPr lang="en-US" sz="1000" dirty="0"/>
          </a:p>
        </p:txBody>
      </p:sp>
      <p:pic>
        <p:nvPicPr>
          <p:cNvPr id="35" name="Image 6" descr="Участник вступает по коду или QR">    </p:cNvPr>
          <p:cNvPicPr>
            <a:picLocks noChangeAspect="1"/>
          </p:cNvPicPr>
          <p:nvPr/>
        </p:nvPicPr>
        <p:blipFill>
          <a:blip r:embed="rId7"/>
          <a:srcRect l="0" r="0" t="-217" b="-217"/>
          <a:stretch/>
        </p:blipFill>
        <p:spPr>
          <a:xfrm>
            <a:off x="84709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36" name="Shape 27"/>
          <p:cNvSpPr/>
          <p:nvPr/>
        </p:nvSpPr>
        <p:spPr>
          <a:xfrm>
            <a:off x="84677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4645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38" name="Text 29"/>
          <p:cNvSpPr/>
          <p:nvPr/>
        </p:nvSpPr>
        <p:spPr>
          <a:xfrm>
            <a:off x="84645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8718550" y="5702102"/>
            <a:ext cx="11557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Участник вступает по коду или QR</a:t>
            </a:r>
            <a:endParaRPr lang="en-US" sz="1000" dirty="0"/>
          </a:p>
        </p:txBody>
      </p:sp>
      <p:pic>
        <p:nvPicPr>
          <p:cNvPr id="40" name="Image 7" descr="Курс участника бронирует запас">    </p:cNvPr>
          <p:cNvPicPr>
            <a:picLocks noChangeAspect="1"/>
          </p:cNvPicPr>
          <p:nvPr/>
        </p:nvPicPr>
        <p:blipFill>
          <a:blip r:embed="rId8"/>
          <a:srcRect l="0" r="0" t="-555" b="-555"/>
          <a:stretch/>
        </p:blipFill>
        <p:spPr>
          <a:xfrm>
            <a:off x="9969500" y="2622352"/>
            <a:ext cx="1346200" cy="3009900"/>
          </a:xfrm>
          <a:prstGeom prst="roundRect">
            <a:avLst>
              <a:gd name="adj" fmla="val 6132"/>
            </a:avLst>
          </a:prstGeom>
        </p:spPr>
      </p:pic>
      <p:sp>
        <p:nvSpPr>
          <p:cNvPr id="41" name="Shape 31"/>
          <p:cNvSpPr/>
          <p:nvPr/>
        </p:nvSpPr>
        <p:spPr>
          <a:xfrm>
            <a:off x="9966325" y="2619177"/>
            <a:ext cx="1352550" cy="3016250"/>
          </a:xfrm>
          <a:prstGeom prst="roundRect">
            <a:avLst>
              <a:gd name="adj" fmla="val 6338"/>
            </a:avLst>
          </a:prstGeom>
          <a:noFill/>
          <a:ln w="6350">
            <a:solidFill>
              <a:srgbClr val="DAD4E8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963150" y="5702102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102D69"/>
          </a:solidFill>
          <a:ln/>
        </p:spPr>
      </p:sp>
      <p:sp>
        <p:nvSpPr>
          <p:cNvPr id="43" name="Text 33"/>
          <p:cNvSpPr/>
          <p:nvPr/>
        </p:nvSpPr>
        <p:spPr>
          <a:xfrm>
            <a:off x="9963150" y="5702102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0217150" y="5702102"/>
            <a:ext cx="1155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 участника бронирует запас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Функциональные требования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Учёт и лечение работают на телефоне без связи; сеть добавляет три возможности.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1988741"/>
            <a:ext cx="6946900" cy="4462859"/>
          </a:xfrm>
          <a:prstGeom prst="roundRect">
            <a:avLst>
              <a:gd name="adj" fmla="val 2846"/>
            </a:avLst>
          </a:prstGeom>
          <a:solidFill>
            <a:srgbClr val="F5F1FB"/>
          </a:solidFill>
          <a:ln/>
        </p:spPr>
      </p:sp>
      <p:sp>
        <p:nvSpPr>
          <p:cNvPr id="7" name="Text 4"/>
          <p:cNvSpPr/>
          <p:nvPr/>
        </p:nvSpPr>
        <p:spPr>
          <a:xfrm>
            <a:off x="704850" y="2141141"/>
            <a:ext cx="6762877" cy="25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На телефоне, без связи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850" y="2500313"/>
            <a:ext cx="6762877" cy="189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АПТЕЧКИ И УПАКОВКИ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4850" y="3173909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850" y="2839244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85950" y="2731988"/>
            <a:ext cx="554634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Аптечки: создание, место хранения, переименование, удаление с переносом содержимого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4850" y="3490813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850" y="3254276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4.1.1.1, 4.1.1.3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85950" y="3246041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Упаковка: сведения, пересчёт, перенос между аптечками, удаление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850" y="3807718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850" y="3571180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85950" y="3562945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Просроченная упаковка выделяется; о сроке приходит уведомление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4850" y="4124623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850" y="3888085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4.1.1.6–9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85950" y="3879850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Поиск, фильтр и сортировка по одной аптечке и по всем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4850" y="4441527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850" y="4204990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85950" y="4196755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Отчёты: остаток, расход до даты, истраченное, план на дату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4850" y="4508202"/>
            <a:ext cx="6762877" cy="189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ЛЕЧЕНИЕ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4850" y="4985544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850" y="4749006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4.1.1.4.4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885950" y="4740771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Курс: доза, дни, время, число приёмов, источники и их порядок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850" y="5498703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850" y="5164038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4.1.1.4.4.6–7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885950" y="5056783"/>
            <a:ext cx="554634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Напоминание; ответ из уведомления списывает дозу из конкретной пачки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04850" y="5815608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4850" y="5579070"/>
            <a:ext cx="1130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4.1.1.4.3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885950" y="5570835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Разовый приём вне курса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04850" y="6296124"/>
            <a:ext cx="65659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850" y="5887045"/>
            <a:ext cx="113030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4.1.1.4.4.5, 4.1.1.13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885950" y="5969496"/>
            <a:ext cx="55463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Нехватка запаса на курс сообщается заранее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613650" y="1988741"/>
            <a:ext cx="4064000" cy="4462859"/>
          </a:xfrm>
          <a:prstGeom prst="roundRect">
            <a:avLst>
              <a:gd name="adj" fmla="val 3125"/>
            </a:avLst>
          </a:prstGeom>
          <a:solidFill>
            <a:srgbClr val="DFC7F2"/>
          </a:solidFill>
          <a:ln/>
        </p:spPr>
      </p:sp>
      <p:sp>
        <p:nvSpPr>
          <p:cNvPr id="38" name="Text 35"/>
          <p:cNvSpPr/>
          <p:nvPr/>
        </p:nvSpPr>
        <p:spPr>
          <a:xfrm>
            <a:off x="7778750" y="2141141"/>
            <a:ext cx="3845814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Через сеть: три источника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778750" y="2463701"/>
            <a:ext cx="37338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7931150" y="2633365"/>
            <a:ext cx="291052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Сервер MedApp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0833100" y="2652415"/>
            <a:ext cx="5778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4.1.1.11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931150" y="2884785"/>
            <a:ext cx="35318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Общая аптечка: приглашение по QR или коду, общий остаток, бронь под курс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7931150" y="3331666"/>
            <a:ext cx="353187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связи: изменения ждут отправки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778750" y="3771801"/>
            <a:ext cx="37338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7931150" y="3941465"/>
            <a:ext cx="226301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API справочника MedApp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0204450" y="3960515"/>
            <a:ext cx="12065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4.1.1.3.1, 4.1.1.12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931150" y="4192885"/>
            <a:ext cx="35318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Препараты РФ, подсказка по неточному названию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931150" y="4639766"/>
            <a:ext cx="353187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связи: поля упаковки заполняются вручную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778750" y="5079901"/>
            <a:ext cx="37338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7931150" y="5348585"/>
            <a:ext cx="287128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Сервис «Честного знака»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10795000" y="5367635"/>
            <a:ext cx="6159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4.1.1.3.2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931150" y="5600005"/>
            <a:ext cx="35318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Упаковка по коду маркировки на коробке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931150" y="5848846"/>
            <a:ext cx="353187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связи: упаковка заводится вручную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Нефункциональные требования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97620"/>
            <a:ext cx="61219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ТРЕБОВАНИЕ И ПУНКТ ТЗ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4350" y="2390080"/>
            <a:ext cx="59436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5950" y="2003028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57350" y="1895773"/>
            <a:ext cx="48399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 без сети: всё, кроме общих аптечек, справочника и маркировки; изменения уходят при появлении связи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4350" y="2431355"/>
            <a:ext cx="5943600" cy="586085"/>
          </a:xfrm>
          <a:prstGeom prst="roundRect">
            <a:avLst>
              <a:gd name="adj" fmla="val 13002"/>
            </a:avLst>
          </a:prstGeom>
          <a:solidFill>
            <a:srgbClr val="DCFF05"/>
          </a:solidFill>
          <a:ln/>
        </p:spPr>
      </p:sp>
      <p:sp>
        <p:nvSpPr>
          <p:cNvPr id="10" name="Text 7"/>
          <p:cNvSpPr/>
          <p:nvPr/>
        </p:nvSpPr>
        <p:spPr>
          <a:xfrm>
            <a:off x="615950" y="2633563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4.6.4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57350" y="2526308"/>
            <a:ext cx="48399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Приватность: сервер не хранит персональных данных; идентификатор создаёт само устройство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4350" y="3644801"/>
            <a:ext cx="59436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950" y="3257748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57350" y="3150493"/>
            <a:ext cx="48399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Надёжность: нет аварийного завершения при любом вводе и сбоях сети; причина и путь исправления названы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4350" y="4275336"/>
            <a:ext cx="59436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950" y="3888284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657350" y="3781028"/>
            <a:ext cx="483997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Напоминания вовремя, несмотря на перезагрузку и энергосбережение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4350" y="4905871"/>
            <a:ext cx="59436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950" y="4518819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3.2.1, 4.6.2–3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57350" y="4510584"/>
            <a:ext cx="48399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10 и выше, Kotlin и Jetpack Compose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14350" y="5536406"/>
            <a:ext cx="59436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950" y="5149354"/>
            <a:ext cx="10033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4.6.5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657350" y="5141119"/>
            <a:ext cx="483997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Серверный API в стиле REST с описанием OpenAPI 3.0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61150" y="1597620"/>
            <a:ext cx="5016500" cy="3530104"/>
          </a:xfrm>
          <a:prstGeom prst="roundRect">
            <a:avLst>
              <a:gd name="adj" fmla="val 3598"/>
            </a:avLst>
          </a:prstGeom>
          <a:solidFill>
            <a:srgbClr val="DFC7F2"/>
          </a:solidFill>
          <a:ln/>
        </p:spPr>
      </p:sp>
      <p:sp>
        <p:nvSpPr>
          <p:cNvPr id="25" name="Text 22"/>
          <p:cNvSpPr/>
          <p:nvPr/>
        </p:nvSpPr>
        <p:spPr>
          <a:xfrm>
            <a:off x="6826250" y="1750020"/>
            <a:ext cx="482688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Приватность шире, чем в ТЗ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826250" y="2034480"/>
            <a:ext cx="4686300" cy="604441"/>
          </a:xfrm>
          <a:prstGeom prst="roundRect">
            <a:avLst>
              <a:gd name="adj" fmla="val 16809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965950" y="2136080"/>
            <a:ext cx="45391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 ТЗ, 4.6.4.1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65950" y="2339280"/>
            <a:ext cx="453910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не хранит имён, почты, телефонов и IP-адресов.</a:t>
            </a:r>
            <a:endParaRPr lang="en-US" sz="1200" dirty="0"/>
          </a:p>
        </p:txBody>
      </p:sp>
      <p:pic>
        <p:nvPicPr>
          <p:cNvPr id="29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74150" y="2689721"/>
            <a:ext cx="190500" cy="1651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826250" y="2905621"/>
            <a:ext cx="4686300" cy="1198563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/>
        </p:spPr>
      </p:sp>
      <p:sp>
        <p:nvSpPr>
          <p:cNvPr id="31" name="Text 27"/>
          <p:cNvSpPr/>
          <p:nvPr/>
        </p:nvSpPr>
        <p:spPr>
          <a:xfrm>
            <a:off x="6965950" y="3007221"/>
            <a:ext cx="45391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65950" y="3210421"/>
            <a:ext cx="4539107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данные — всё, по чему можно восстановить человека: прежде всего его лекарства и приёмы. В общей аптечке на троих даже ритм изменений одной пачки выдаёт, кто что принимает.</a:t>
            </a:r>
            <a:endParaRPr lang="en-US" sz="1200" dirty="0"/>
          </a:p>
        </p:txBody>
      </p:sp>
      <p:pic>
        <p:nvPicPr>
          <p:cNvPr id="33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74150" y="4154984"/>
            <a:ext cx="190500" cy="16510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6826250" y="4370884"/>
            <a:ext cx="4686300" cy="604441"/>
          </a:xfrm>
          <a:prstGeom prst="roundRect">
            <a:avLst>
              <a:gd name="adj" fmla="val 16809"/>
            </a:avLst>
          </a:prstGeom>
          <a:solidFill>
            <a:srgbClr val="FFFFFF"/>
          </a:solidFill>
          <a:ln/>
        </p:spPr>
      </p:sp>
      <p:sp>
        <p:nvSpPr>
          <p:cNvPr id="35" name="Text 30"/>
          <p:cNvSpPr/>
          <p:nvPr/>
        </p:nvSpPr>
        <p:spPr>
          <a:xfrm>
            <a:off x="6965950" y="4472484"/>
            <a:ext cx="45391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ИТОГ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965950" y="4675684"/>
            <a:ext cx="453910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о лечении не знает почти ничего.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14350" y="5704880"/>
            <a:ext cx="11163300" cy="746720"/>
          </a:xfrm>
          <a:prstGeom prst="roundRect">
            <a:avLst>
              <a:gd name="adj" fmla="val 17008"/>
            </a:avLst>
          </a:prstGeom>
          <a:solidFill>
            <a:srgbClr val="DCFF05"/>
          </a:solidFill>
          <a:ln/>
        </p:spPr>
      </p:sp>
      <p:sp>
        <p:nvSpPr>
          <p:cNvPr id="38" name="Text 33"/>
          <p:cNvSpPr/>
          <p:nvPr/>
        </p:nvSpPr>
        <p:spPr>
          <a:xfrm>
            <a:off x="704850" y="5844580"/>
            <a:ext cx="1110576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Главная инженерная задача: синхронизировать общий запас и разрешать конфликты, почти ничего не зная о клиентах.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4350" y="368300"/>
            <a:ext cx="463550" cy="46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6850" y="419100"/>
            <a:ext cx="1320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14350" y="952500"/>
            <a:ext cx="1149819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spc="-70" kern="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Испытания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4350" y="1584920"/>
            <a:ext cx="1149819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Каждый вид проверки ловит свой класс ошибок и нашёл свой дефект.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4350" y="2393156"/>
            <a:ext cx="10795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250" y="2105223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ГДЕ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93850" y="2393156"/>
            <a:ext cx="33020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82750" y="2105223"/>
            <a:ext cx="32179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ВИД ПРОВЕРКИ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95850" y="2393156"/>
            <a:ext cx="3556000" cy="0"/>
          </a:xfrm>
          <a:prstGeom prst="line">
            <a:avLst/>
          </a:prstGeom>
          <a:noFill/>
          <a:ln w="12700">
            <a:solidFill>
              <a:srgbClr val="102D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4750" y="2105223"/>
            <a:ext cx="34795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ЧТО НАШЛА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4350" y="3031728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250" y="2623245"/>
            <a:ext cx="9525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593850" y="3031728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82750" y="2515989"/>
            <a:ext cx="321792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Параллельные транзакции на настоящей СУБД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95850" y="3031728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4750" y="2615009"/>
            <a:ext cx="347954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проверку гонки, которая проходила случайно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4350" y="3667125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593850" y="3667125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82750" y="3250406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Число запросов на разных объёмах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5850" y="3667125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4750" y="3151386"/>
            <a:ext cx="34795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удаление аптечки с запросом на каждую упаковку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4350" y="4302522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593850" y="4302522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82750" y="3885803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Планы запросов на большой выборке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95850" y="4302522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4750" y="3786783"/>
            <a:ext cx="34795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нечёткий поиск, читавший справочник целиком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14350" y="4739977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3250" y="4430415"/>
            <a:ext cx="9525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593850" y="4739977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82750" y="4422180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Правила с примером нарушения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895850" y="4739977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4750" y="4422180"/>
            <a:ext cx="347954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правило, которое не могло упасть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4350" y="5177433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250" y="4867870"/>
            <a:ext cx="9525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593850" y="5177433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82750" y="4859635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Пробы против боевого сервера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895850" y="5177433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84750" y="4859635"/>
            <a:ext cx="347954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бронь для сервера — заявка, а не замок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14350" y="5812929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93850" y="5812929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682750" y="5396111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Истории людей через экраны и дни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895850" y="5812929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84750" y="5297091"/>
            <a:ext cx="34795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недосягаемое поле даты; пропуск, неотличимый от неответа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14350" y="6448425"/>
            <a:ext cx="10795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593850" y="6448425"/>
            <a:ext cx="3302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682750" y="6031607"/>
            <a:ext cx="321792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Три конфигурации устройства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895850" y="6448425"/>
            <a:ext cx="3556000" cy="0"/>
          </a:xfrm>
          <a:prstGeom prst="line">
            <a:avLst/>
          </a:prstGeom>
          <a:noFill/>
          <a:ln w="6350">
            <a:solidFill>
              <a:srgbClr val="DFC7F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984750" y="5932587"/>
            <a:ext cx="347954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02D6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старый Android с малым экраном, новый с крупным шрифтом, английский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8629650" y="1988741"/>
            <a:ext cx="3048000" cy="4462859"/>
          </a:xfrm>
          <a:prstGeom prst="roundRect">
            <a:avLst>
              <a:gd name="adj" fmla="val 4167"/>
            </a:avLst>
          </a:prstGeom>
          <a:solidFill>
            <a:srgbClr val="DCFF05"/>
          </a:solidFill>
          <a:ln/>
        </p:spPr>
      </p:sp>
      <p:sp>
        <p:nvSpPr>
          <p:cNvPr id="51" name="Text 48"/>
          <p:cNvSpPr/>
          <p:nvPr/>
        </p:nvSpPr>
        <p:spPr>
          <a:xfrm>
            <a:off x="8794750" y="2141141"/>
            <a:ext cx="27993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50" kern="0" dirty="0">
                <a:solidFill>
                  <a:srgbClr val="555F77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ПОКРЫТИЕ КОДА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794750" y="2395141"/>
            <a:ext cx="2717800" cy="1409601"/>
          </a:xfrm>
          <a:prstGeom prst="roundRect">
            <a:avLst>
              <a:gd name="adj" fmla="val 7208"/>
            </a:avLst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8959850" y="2534841"/>
            <a:ext cx="245922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959850" y="2832001"/>
            <a:ext cx="151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97,7 %</a:t>
            </a:r>
            <a:endParaRPr lang="en-US" sz="2800" dirty="0"/>
          </a:p>
        </p:txBody>
      </p:sp>
      <p:sp>
        <p:nvSpPr>
          <p:cNvPr id="55" name="Text 52"/>
          <p:cNvSpPr/>
          <p:nvPr/>
        </p:nvSpPr>
        <p:spPr>
          <a:xfrm>
            <a:off x="10496550" y="3035201"/>
            <a:ext cx="431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строк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959850" y="3280271"/>
            <a:ext cx="151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83,9 %</a:t>
            </a:r>
            <a:endParaRPr lang="en-US" sz="2800" dirty="0"/>
          </a:p>
        </p:txBody>
      </p:sp>
      <p:sp>
        <p:nvSpPr>
          <p:cNvPr id="57" name="Text 54"/>
          <p:cNvSpPr/>
          <p:nvPr/>
        </p:nvSpPr>
        <p:spPr>
          <a:xfrm>
            <a:off x="10496550" y="3483471"/>
            <a:ext cx="7683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ветвлений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8794750" y="3893641"/>
            <a:ext cx="2717800" cy="1409601"/>
          </a:xfrm>
          <a:prstGeom prst="roundRect">
            <a:avLst>
              <a:gd name="adj" fmla="val 7208"/>
            </a:avLst>
          </a:prstGeom>
          <a:solidFill>
            <a:srgbClr val="FFFFFF"/>
          </a:solidFill>
          <a:ln/>
        </p:spPr>
      </p:sp>
      <p:sp>
        <p:nvSpPr>
          <p:cNvPr id="59" name="Text 56"/>
          <p:cNvSpPr/>
          <p:nvPr/>
        </p:nvSpPr>
        <p:spPr>
          <a:xfrm>
            <a:off x="8959850" y="4033341"/>
            <a:ext cx="245922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Приложение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959850" y="4330502"/>
            <a:ext cx="151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93,5 %</a:t>
            </a:r>
            <a:endParaRPr lang="en-US" sz="2800" dirty="0"/>
          </a:p>
        </p:txBody>
      </p:sp>
      <p:sp>
        <p:nvSpPr>
          <p:cNvPr id="61" name="Text 58"/>
          <p:cNvSpPr/>
          <p:nvPr/>
        </p:nvSpPr>
        <p:spPr>
          <a:xfrm>
            <a:off x="10496550" y="4533702"/>
            <a:ext cx="43180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строк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8959850" y="4778772"/>
            <a:ext cx="151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102D69"/>
                </a:solidFill>
                <a:latin typeface="Navigo" pitchFamily="34" charset="0"/>
                <a:ea typeface="Navigo" pitchFamily="34" charset="-122"/>
                <a:cs typeface="Navigo" pitchFamily="34" charset="-120"/>
              </a:rPr>
              <a:t>78,3 %</a:t>
            </a:r>
            <a:endParaRPr lang="en-US" sz="2800" dirty="0"/>
          </a:p>
        </p:txBody>
      </p:sp>
      <p:sp>
        <p:nvSpPr>
          <p:cNvPr id="63" name="Text 60"/>
          <p:cNvSpPr/>
          <p:nvPr/>
        </p:nvSpPr>
        <p:spPr>
          <a:xfrm>
            <a:off x="10496550" y="4981972"/>
            <a:ext cx="768350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ветвлений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8794750" y="5392142"/>
            <a:ext cx="279933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55F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служебного и сгенерированного кода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MedApp: защита, вариант 2 (вольный пересказ)</dc:title>
  <dc:subject>PptxGenJS Presentation</dc:subject>
  <dc:creator>PptxGenJS</dc:creator>
  <cp:lastModifiedBy>PptxGenJS</cp:lastModifiedBy>
  <cp:revision>1</cp:revision>
  <dcterms:created xsi:type="dcterms:W3CDTF">2026-09-30T19:49:47Z</dcterms:created>
  <dcterms:modified xsi:type="dcterms:W3CDTF">2026-09-30T19:49:47Z</dcterms:modified>
</cp:coreProperties>
</file>