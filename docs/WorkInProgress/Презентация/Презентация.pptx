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-f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371600" cy="265176"/>
          </a:xfrm>
          <a:prstGeom prst="rect">
            <a:avLst/>
          </a:prstGeom>
        </p:spPr>
      </p:pic>
      <p:pic>
        <p:nvPicPr>
          <p:cNvPr id="4" name="Picture 3" descr="logo-h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57200"/>
            <a:ext cx="475488" cy="4754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45752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158984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872216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732520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445752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158984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0872216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32520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445752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158984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872216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732520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445752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158984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872216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732520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445752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0158984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872216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" y="2011680"/>
            <a:ext cx="7589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>
                <a:solidFill>
                  <a:srgbClr val="102D69"/>
                </a:solidFill>
                <a:latin typeface="Navigo"/>
              </a:rPr>
              <a:t>Органайзер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5400" b="1" i="0">
                <a:solidFill>
                  <a:srgbClr val="1B6B4A"/>
                </a:solidFill>
                <a:latin typeface="Navigo"/>
              </a:rPr>
              <a:t>лекарств</a:t>
            </a:r>
          </a:p>
          <a:p>
            <a:pPr>
              <a:spcBef>
                <a:spcPts val="180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555F77"/>
                </a:solidFill>
                <a:latin typeface="HSE Sans"/>
              </a:rPr>
              <a:t>Приложение для Android · "Medicine Organizer" Android Application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43984"/>
            <a:ext cx="2011680" cy="27432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4681728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02D69"/>
                </a:solidFill>
                <a:latin typeface="HSE Sans"/>
              </a:rPr>
              <a:t>Индивидуальный программный проект</a:t>
            </a:r>
          </a:p>
          <a:p>
            <a:pPr>
              <a:spcBef>
                <a:spcPts val="110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Волошин Никита, БПИ245</a:t>
            </a:r>
          </a:p>
          <a:p>
            <a:pPr>
              <a:spcBef>
                <a:spcPts val="110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55F77"/>
                </a:solidFill>
                <a:latin typeface="HSE Sans"/>
              </a:rPr>
              <a:t>Научный руководитель: Е. Ю. Песоцкая, к. э. н., доцент департамента программной инженерии ФКН НИУ ВШЭ</a:t>
            </a:r>
          </a:p>
          <a:p>
            <a:pPr>
              <a:spcBef>
                <a:spcPts val="110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ПРЕДМЕТНАЯ ОБЛАСТЬ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Откуда взялась задача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73936"/>
            <a:ext cx="1908498" cy="4087367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med-kits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79877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71031"/>
            <a:ext cx="19816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Так это выглядит в итоге: три места одним списком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1810" y="1929384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99554" y="1883664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Лекарства лежат в трёх местах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554" y="2231136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дома, в общежитии, в рюкзаке - и каждое место живёт своим списком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1810" y="3008376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99554" y="2962656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«А я сегодня таблетку пил — или это было вчера?»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9554" y="3310128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курс надо пить по часам, а через пятнадцать минут я уже не помню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1810" y="4087368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99554" y="4041648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Общая аптечка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9554" y="4389120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из одной пачки берут все: я рассчитываю на неё, а её уже допили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1810" y="5212080"/>
            <a:ext cx="8289805" cy="786384"/>
          </a:xfrm>
          <a:prstGeom prst="roundRect">
            <a:avLst>
              <a:gd name="adj" fmla="val 10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54418" y="5376672"/>
            <a:ext cx="77045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02D69"/>
                </a:solidFill>
                <a:latin typeface="HSE Sans"/>
              </a:rPr>
              <a:t>Одни приложения напоминают о приёме, другие ведут список того, что дома. Весь сценарий не закрывает ни одно.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АНАЛИЗ АНАЛОГОВ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Каждое закрывает свой кусок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Сравнение по открытым описаниям приложений, сентябрь 2026 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18241" y="2304288"/>
            <a:ext cx="1233373" cy="3557016"/>
          </a:xfrm>
          <a:prstGeom prst="roundRect">
            <a:avLst>
              <a:gd name="adj" fmla="val 4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51376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02D69"/>
                </a:solidFill>
                <a:latin typeface="HSE Sans"/>
              </a:rPr>
              <a:t>Medisafe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55F77"/>
                </a:solidFill>
                <a:latin typeface="HSE Sans"/>
              </a:rPr>
              <a:t>Medisafe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4749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02D69"/>
                </a:solidFill>
                <a:latin typeface="HSE Sans"/>
              </a:rPr>
              <a:t>MyTherapy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4749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55F77"/>
                </a:solidFill>
                <a:latin typeface="HSE Sans"/>
              </a:rPr>
              <a:t>smartpatient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8122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02D69"/>
                </a:solidFill>
                <a:latin typeface="HSE Sans"/>
              </a:rPr>
              <a:t>Домашняя аптечка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8122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55F77"/>
                </a:solidFill>
                <a:latin typeface="HSE Sans"/>
              </a:rPr>
              <a:t>pewaru-333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1495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02D69"/>
                </a:solidFill>
                <a:latin typeface="HSE Sans"/>
              </a:rPr>
              <a:t>Аптечка. Учёт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1495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55F77"/>
                </a:solidFill>
                <a:latin typeface="HSE Sans"/>
              </a:rPr>
              <a:t>DecSoft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4868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02D69"/>
                </a:solidFill>
                <a:latin typeface="HSE Sans"/>
              </a:rPr>
              <a:t>Честный ЗНАК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4868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55F77"/>
                </a:solidFill>
                <a:latin typeface="HSE Sans"/>
              </a:rPr>
              <a:t>ЦРПТ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8241" y="2377440"/>
            <a:ext cx="12333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B6B4A"/>
                </a:solidFill>
                <a:latin typeface="HSE Sans"/>
              </a:rPr>
              <a:t>MedApp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8241" y="2615184"/>
            <a:ext cx="1233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B6B4A"/>
                </a:solidFill>
                <a:latin typeface="HSE Sans"/>
              </a:rPr>
              <a:t>этот проект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97180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Напоминания о приёме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749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8122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1495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4868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8241" y="29535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22783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8096" y="329184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Учёт остатка упаковки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4749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8122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1495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4868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8241" y="32735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54787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8096" y="361188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Несколько мест хранения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376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4749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8122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1495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4868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8241" y="35935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86791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8096" y="393192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Контроль сроков годности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51376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84749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8122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1495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4868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8241" y="39136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418795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68096" y="425196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Сканирование кода маркировки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51376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4749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8122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51495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84868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18241" y="423367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50799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68096" y="457200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Общая аптечка с общим остатком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1376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4749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8122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1495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84868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18241" y="455371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482803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68096" y="489204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Бронирование под курс лечения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4749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18122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51495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84868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18241" y="487375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514807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68096" y="521208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Работа без сети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51376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4749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8122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51495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84868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8241" y="519379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5468112"/>
            <a:ext cx="9678161" cy="9144"/>
          </a:xfrm>
          <a:prstGeom prst="rect">
            <a:avLst/>
          </a:prstGeom>
          <a:solidFill>
            <a:srgbClr val="DD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68096" y="553212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02D69"/>
                </a:solidFill>
                <a:latin typeface="HSE Sans"/>
              </a:rPr>
              <a:t>Учётная запись без имени и контактов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51376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84749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8122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51495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84868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8241" y="5513832"/>
            <a:ext cx="1233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+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0258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02D69"/>
                </a:solidFill>
                <a:latin typeface="HSE Sans"/>
              </a:rPr>
              <a:t>Общего остатка на несколько устройств и брони под курс нет ни у кого - это и пришлось проектировать самому.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Закрыть сценарий одним окном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426464"/>
          </a:xfrm>
          <a:prstGeom prst="roundRect">
            <a:avLst>
              <a:gd name="adj" fmla="val 7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2416" y="2029968"/>
            <a:ext cx="10088575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B6B4A"/>
                </a:solidFill>
                <a:latin typeface="HSE Sans"/>
              </a:rPr>
              <a:t>ЦЕЛЬ</a:t>
            </a: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102D69"/>
                </a:solidFill>
                <a:latin typeface="HSE Sans"/>
              </a:rPr>
              <a:t>Разработать приложение для Android, которое ведёт упаковки и сроки, курсы и напоминания, заводит пачку по коду с упаковки, показывает расход и позволяет пользоваться общей аптечкой нескольким людям - не выходя из одного приложения.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6301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602736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Проанализировать предметную область и аналоги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661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36301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3602736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Сформулировать требования и согласовать техническое задание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96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206240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Собрать справочник препаратов, продающихся в РФ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96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42336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4206240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Спроектировать модель: упаковка, курс, приём, бронь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48371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80974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Разработать серверную часть: общие аптечки и брони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48371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2864" y="480974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Разработать Android-клиент: учёт, напоминания, аналитика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766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5413248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02D69"/>
                </a:solidFill>
                <a:latin typeface="HSE Sans"/>
              </a:rPr>
              <a:t>Провести испытания и подготовить документацию по ГОСТ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Что программа обязана уметь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Три группы требований - и два сквозных, прямо из сценария: работа без сети и никаких персональных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4015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4-med-kit-contents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79" y="2304288"/>
            <a:ext cx="1306693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2847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6B4A"/>
                </a:solidFill>
                <a:latin typeface="HSE Sans"/>
              </a:rPr>
              <a:t>Учёт - правда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47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просроченная поднята первой, сроки и места видно сразу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636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16-course-sources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00" y="2304288"/>
            <a:ext cx="1306693" cy="2889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6468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B6470"/>
                </a:solidFill>
                <a:latin typeface="HSE Sans"/>
              </a:rPr>
              <a:t>Ответы о будущем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6468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«не хватает 9 приёмов с 21.09» видно заранее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1258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06-package-card-claimed-by-oth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122" y="2304288"/>
            <a:ext cx="1306693" cy="2889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60090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Общая аптечка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0090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видно, сколько из остатка забронировали другие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СРЕДСТВА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Чем это сделано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17722" cy="318211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17722" cy="73152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КЛИЕНТ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968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Kotlin · JetBrains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900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70432" y="2916936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Jetpack Compose · Google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310128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Room · 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764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0432" y="3703320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WorkManager · 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696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70432" y="4096512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CameraX и ML Kit ·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6285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489704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Ktor Client · JetBrains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6986" y="1828800"/>
            <a:ext cx="3417722" cy="318211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6986" y="1828800"/>
            <a:ext cx="3417722" cy="73152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61306" y="2121408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B6470"/>
                </a:solidFill>
                <a:latin typeface="HSE Sans"/>
              </a:rPr>
              <a:t>СЕРВЕР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1306" y="25968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17338" y="2523744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Kotlin · JetBrains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1306" y="29900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17338" y="2916936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Spring Boot · Broadcom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1306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17338" y="3310128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Exposed · JetBrains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1306" y="37764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17338" y="3703320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PostgreSQL · PGDG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1306" y="41696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17338" y="4096512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Testcontainers · AtomicJar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1306" y="456285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917338" y="4489704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Docker · Docker Inc.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3892" y="1828800"/>
            <a:ext cx="3417722" cy="318211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33892" y="1828800"/>
            <a:ext cx="3417722" cy="73152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08212" y="2121408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02D69"/>
                </a:solidFill>
                <a:latin typeface="HSE Sans"/>
              </a:rPr>
              <a:t>ДАННЫЕ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08212" y="25968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664244" y="2523744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Python · PSF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08212" y="29900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664244" y="2916936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Scrapy · Zyte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08212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64244" y="3310128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BeautifulSoup · L. Richardson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8212" y="37764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64244" y="3703320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справочник препаратов РФ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340096"/>
            <a:ext cx="10911535" cy="804672"/>
          </a:xfrm>
          <a:prstGeom prst="roundRect">
            <a:avLst>
              <a:gd name="adj" fmla="val 8000"/>
            </a:avLst>
          </a:prstGeom>
          <a:solidFill>
            <a:srgbClr val="FFD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05840" y="5522976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1700"/>
                </a:solidFill>
                <a:latin typeface="HSE Sans"/>
              </a:rPr>
              <a:t>Почему не ORM: форма SQL-запроса здесь часть требований - в запросе выражены доступ вызывающего, предикат версии и режим блокировки.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АРХИТЕКТУРА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Три части с разной причиной меняться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754880" cy="228600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1B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04825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ANDROID-КЛИЕНТ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Kotlin · Jetpack 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761488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28 экранов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437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B6B4A"/>
                </a:solidFill>
                <a:latin typeface="HSE Sans"/>
              </a:rPr>
              <a:t>Material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191256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32644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735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B6B4A"/>
                </a:solidFill>
                <a:latin typeface="HSE Sans"/>
              </a:rPr>
              <a:t>местная база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621024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36941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Очередь операций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03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B6B4A"/>
                </a:solidFill>
                <a:latin typeface="HSE Sans"/>
              </a:rPr>
              <a:t>работа без сети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632" y="1828800"/>
            <a:ext cx="4754880" cy="228600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3B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5240" y="204825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B6470"/>
                </a:solidFill>
                <a:latin typeface="HSE Sans"/>
              </a:rPr>
              <a:t>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3591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Kotlin · Spring Boot · 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761488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BF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2" y="2834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Общие аптечки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8437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3B6470"/>
                </a:solidFill>
                <a:latin typeface="HSE Sans"/>
              </a:rPr>
              <a:t>состав участников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191256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BF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99832" y="32644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Общий остаток и брони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32735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3B6470"/>
                </a:solidFill>
                <a:latin typeface="HSE Sans"/>
              </a:rPr>
              <a:t>источник истины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621024"/>
            <a:ext cx="4169664" cy="365760"/>
          </a:xfrm>
          <a:prstGeom prst="roundRect">
            <a:avLst>
              <a:gd name="adj" fmla="val 20000"/>
            </a:avLst>
          </a:prstGeom>
          <a:solidFill>
            <a:srgbClr val="BF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99832" y="36941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Справочник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3703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3B6470"/>
                </a:solidFill>
                <a:latin typeface="HSE Sans"/>
              </a:rPr>
              <a:t>препараты РФ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22976" y="2697480"/>
            <a:ext cx="1700784" cy="0"/>
          </a:xfrm>
          <a:prstGeom prst="bentConnector3">
            <a:avLst/>
          </a:prstGeom>
          <a:ln w="19050">
            <a:solidFill>
              <a:srgbClr val="1B6B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522976" y="3291840"/>
            <a:ext cx="1700784" cy="0"/>
          </a:xfrm>
          <a:prstGeom prst="bentConnector3">
            <a:avLst/>
          </a:prstGeom>
          <a:ln w="19050">
            <a:solidFill>
              <a:srgbClr val="3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22976" y="2331720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55F77"/>
                </a:solidFill>
                <a:latin typeface="HSE Sans"/>
              </a:rPr>
              <a:t>аптечки, брони,
синхронизация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3364992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55F77"/>
                </a:solidFill>
                <a:latin typeface="HSE Sans"/>
              </a:rPr>
              <a:t>справочник,
снимок полки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39911" y="4480560"/>
            <a:ext cx="3017520" cy="658368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68511" y="4590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D69"/>
                </a:solidFill>
                <a:latin typeface="HSE Sans"/>
              </a:rPr>
              <a:t>Скраппер справочника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1" y="48280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55F77"/>
                </a:solidFill>
                <a:latin typeface="HSE Sans"/>
              </a:rPr>
              <a:t>Python · разовая загрузка, в работе не участвует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9875520" y="4114800"/>
            <a:ext cx="0" cy="365760"/>
          </a:xfrm>
          <a:prstGeom prst="bentConnector3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0080" y="4425696"/>
            <a:ext cx="5852160" cy="841248"/>
          </a:xfrm>
          <a:prstGeom prst="roundRect">
            <a:avLst>
              <a:gd name="adj" fmla="val 7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9264" y="459028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02D69"/>
                </a:solidFill>
                <a:latin typeface="HSE Sans"/>
              </a:rPr>
              <a:t>Клиент без сети работает полностью: сеть нужна только общей аптечке.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МОДЕЛЬ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Единица учёта — упаковка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73936"/>
            <a:ext cx="1908498" cy="4087367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6-package-card-on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79877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71031"/>
            <a:ext cx="19816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Карточка упаковки: остаток, срок, бронь под курс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1810" y="1929384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99554" y="1883664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Приём списывает из конкретной пачки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554" y="2231136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у двух пачек одного лекарства разные сроки годности, часто и разная дозировка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1810" y="3008376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99554" y="2962656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Курс держит упаковки-источники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9554" y="3310128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и порядок, в котором их расходовать: сначала то, что испортится раньше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1810" y="4087368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99554" y="4041648"/>
            <a:ext cx="8015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Бронь принадлежит человеку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9554" y="4389120"/>
            <a:ext cx="8015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это его решение о запасе, а не служебная отметка сервера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1810" y="5212080"/>
            <a:ext cx="8289805" cy="786384"/>
          </a:xfrm>
          <a:prstGeom prst="roundRect">
            <a:avLst>
              <a:gd name="adj" fmla="val 10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54418" y="5376672"/>
            <a:ext cx="77045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02D69"/>
                </a:solidFill>
                <a:latin typeface="HSE Sans"/>
              </a:rPr>
              <a:t>«Одно лекарство» определить нечем: вещество, название, комплектация и производитель дают четыре разных ответа.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ПРИВАТНОСТЬ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Чего сервер не знает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Данные тут медицинские: серверу знать их незачем. Это требование определило его устройство сильнее любой функции.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249424"/>
            <a:ext cx="3427902" cy="3813048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1-setup-key-l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4288"/>
            <a:ext cx="3318174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72200"/>
            <a:ext cx="35010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Экран «ключ утрачен»: что останется, а что пропадёт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1214" y="2404872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18958" y="2359152"/>
            <a:ext cx="649608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О человеке - только идентификатор и хеш ключа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8958" y="2706624"/>
            <a:ext cx="649608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ни имени, ни почты, ни телефона; журнал приёмов на сервер не уходит вовсе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1214" y="3483864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18958" y="3438144"/>
            <a:ext cx="649608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Проверять право отдельным шагом нечем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958" y="3785616"/>
            <a:ext cx="649608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доступ выражен внутри запроса: чтение принимает вызывающего и этим же проверяет право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1214" y="4562856"/>
            <a:ext cx="45720" cy="56692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18958" y="4517136"/>
            <a:ext cx="649608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02D69"/>
                </a:solidFill>
                <a:latin typeface="HSE Sans"/>
              </a:rPr>
              <a:t>У решения есть цена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8958" y="4864608"/>
            <a:ext cx="649608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ключ утрачен - восстановить учётную запись некому, и это приходится честно сказать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ОБЩИЙ ОСТАТОК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Одну упаковку меняют одновременно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Прочитанное не даёт права писать: участника могут исключить из аптечки прямо во время его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249424"/>
            <a:ext cx="1536339" cy="3264408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6-package-card-on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4288"/>
            <a:ext cx="1426611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070140" y="2249424"/>
            <a:ext cx="1536339" cy="3264408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package-card-refused-by-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04" y="2304288"/>
            <a:ext cx="1426611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660136"/>
            <a:ext cx="1792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B6B4A"/>
                </a:solidFill>
                <a:latin typeface="HSE Sans"/>
              </a:rPr>
              <a:t>Устройство 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34456"/>
            <a:ext cx="17923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расход применён, версия стала восьмой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42124" y="5660136"/>
            <a:ext cx="1792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A1A1A"/>
                </a:solidFill>
                <a:latin typeface="HSE Sans"/>
              </a:rPr>
              <a:t>Устройство 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2124" y="5934456"/>
            <a:ext cx="17923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предъявило версию семь и получило отказ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23891" y="2395728"/>
            <a:ext cx="7143913" cy="658368"/>
          </a:xfrm>
          <a:prstGeom prst="roundRect">
            <a:avLst>
              <a:gd name="adj" fmla="val 12000"/>
            </a:avLst>
          </a:prstGeom>
          <a:solidFill>
            <a:srgbClr val="F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61635" y="2514600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Оба прочитали версию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635" y="2779776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одна и та же пачка на двух устройствах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7" y="3072384"/>
            <a:ext cx="0" cy="164592"/>
          </a:xfrm>
          <a:prstGeom prst="bentConnector3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523891" y="3273552"/>
            <a:ext cx="7143913" cy="658368"/>
          </a:xfrm>
          <a:prstGeom prst="roundRect">
            <a:avLst>
              <a:gd name="adj" fmla="val 12000"/>
            </a:avLst>
          </a:prstGeom>
          <a:solidFill>
            <a:srgbClr val="FFD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761635" y="3392424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Команда удерживает корень аптечки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635" y="3657600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A5A00"/>
                </a:solidFill>
                <a:latin typeface="HSE Sans"/>
              </a:rPr>
              <a:t>и под удержанием перечитывает изменяемое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5847" y="3950208"/>
            <a:ext cx="0" cy="164592"/>
          </a:xfrm>
          <a:prstGeom prst="bentConnector3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23891" y="4151376"/>
            <a:ext cx="7143913" cy="658368"/>
          </a:xfrm>
          <a:prstGeom prst="roundRect">
            <a:avLst>
              <a:gd name="adj" fmla="val 12000"/>
            </a:avLst>
          </a:prstGeom>
          <a:solidFill>
            <a:srgbClr val="FF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61635" y="4270248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Предикат версии в самом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635" y="4535424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BA1A1A"/>
                </a:solidFill>
                <a:latin typeface="HSE Sans"/>
              </a:rPr>
              <a:t>ноль изменённых строк - гонка проиграна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5847" y="4828032"/>
            <a:ext cx="0" cy="164592"/>
          </a:xfrm>
          <a:prstGeom prst="bentConnector3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523891" y="5029200"/>
            <a:ext cx="7143913" cy="658368"/>
          </a:xfrm>
          <a:prstGeom prst="roundRect">
            <a:avLst>
              <a:gd name="adj" fmla="val 12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761635" y="5148072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Проигравший перечитывает и повторяет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635" y="5413248"/>
            <a:ext cx="66867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B6B4A"/>
                </a:solidFill>
                <a:latin typeface="HSE Sans"/>
              </a:rPr>
              <a:t>человек видит, что осталось на самом деле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РАБОТА БЕЗ 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Что человек видит, пока связи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Повтор идёт тем же замороженным запросом: иначе потерянный ответ стал бы вторым списанием.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4015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4-med-kit-contents-shared-in-f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79" y="2304288"/>
            <a:ext cx="1306693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2847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8A5A00"/>
                </a:solidFill>
                <a:latin typeface="HSE Sans"/>
              </a:rPr>
              <a:t>Записано сразу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47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строка помечена: к серверу ещё не доехало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636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28-sync-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00" y="2304288"/>
            <a:ext cx="1306693" cy="2889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6468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B6470"/>
                </a:solidFill>
                <a:latin typeface="HSE Sans"/>
              </a:rPr>
              <a:t>Очередь ждёт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6468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«отправится, когда будет связь»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1258" y="2249424"/>
            <a:ext cx="1416421" cy="2999232"/>
          </a:xfrm>
          <a:prstGeom prst="roundRect">
            <a:avLst>
              <a:gd name="adj" fmla="val 3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06-package-card-refused-by-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122" y="2304288"/>
            <a:ext cx="1306693" cy="2889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60090" y="5413248"/>
            <a:ext cx="181875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BA1A1A"/>
                </a:solidFill>
                <a:latin typeface="HSE Sans"/>
              </a:rPr>
              <a:t>Отказ - словами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0090" y="5925312"/>
            <a:ext cx="181875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сервер отклонил - приложение предлагает пересчитать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ИСПЫТАНИЯ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Чем проверено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Проверки идут на каждом изменении; нарушение границ слоёв роняет сборку.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04288"/>
            <a:ext cx="2515285" cy="219456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2560320"/>
            <a:ext cx="205808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1B6B4A"/>
                </a:solidFill>
                <a:latin typeface="Navigo"/>
              </a:rPr>
              <a:t>1130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10128"/>
            <a:ext cx="2058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проверок без устройства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9312"/>
            <a:ext cx="205808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домен, отображения, представления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829" y="2304288"/>
            <a:ext cx="2515285" cy="219456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76573" y="2560320"/>
            <a:ext cx="205808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1B6B4A"/>
                </a:solidFill>
                <a:latin typeface="Navigo"/>
              </a:rPr>
              <a:t>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10128"/>
            <a:ext cx="2058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инструментальных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639312"/>
            <a:ext cx="205808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Android 10 (360×640 dp) и большой экран с крупным шрифтом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7579" y="2304288"/>
            <a:ext cx="2515285" cy="219456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5323" y="2560320"/>
            <a:ext cx="205808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1B6B4A"/>
                </a:solidFill>
                <a:latin typeface="Navigo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323" y="3310128"/>
            <a:ext cx="2058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сквозных историй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5323" y="3639312"/>
            <a:ext cx="205808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21 на клиенте и 17 на сервере; каждая проходит путь человека целиком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6329" y="2304288"/>
            <a:ext cx="2515285" cy="219456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74073" y="2560320"/>
            <a:ext cx="205808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1B6B4A"/>
                </a:solidFill>
                <a:latin typeface="Navigo"/>
              </a:rPr>
              <a:t>40 000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4073" y="3310128"/>
            <a:ext cx="2058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02D69"/>
                </a:solidFill>
                <a:latin typeface="HSE Sans"/>
              </a:rPr>
              <a:t>строк в выборке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4073" y="3639312"/>
            <a:ext cx="205808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планы запросов: число обращений к базе не растёт с объёмом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28032"/>
            <a:ext cx="10911535" cy="859536"/>
          </a:xfrm>
          <a:prstGeom prst="roundRect">
            <a:avLst>
              <a:gd name="adj" fmla="val 8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6" y="5010912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02D69"/>
                </a:solidFill>
                <a:latin typeface="HSE Sans"/>
              </a:rPr>
              <a:t>Гонки проверяются настоящими параллельными транзакциями: проверка задерживает одну и убеждается, что вторая получает отказ по версии.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Что сделано и сдано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91175" cy="109728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0972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029968"/>
            <a:ext cx="4742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02D69"/>
                </a:solidFill>
                <a:latin typeface="HSE Sans"/>
              </a:rPr>
              <a:t>Android-приложение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9152"/>
            <a:ext cx="47425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учёт упаковок и сроков, курсы и напоминания, сканирование кода маркировки, отчёты, общая аптечка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0439" y="1828800"/>
            <a:ext cx="5291175" cy="109728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0439" y="1828800"/>
            <a:ext cx="73152" cy="1097280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71335" y="2029968"/>
            <a:ext cx="4742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02D69"/>
                </a:solidFill>
                <a:latin typeface="HSE Sans"/>
              </a:rPr>
              <a:t>Сервер общих аптечек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1335" y="2359152"/>
            <a:ext cx="47425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приглашения, общий остаток и брони, разрешение конкурентных изменений, контракт OpenAPI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27248"/>
            <a:ext cx="5291175" cy="109728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127248"/>
            <a:ext cx="73152" cy="109728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0976" y="3328416"/>
            <a:ext cx="4742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02D69"/>
                </a:solidFill>
                <a:latin typeface="HSE Sans"/>
              </a:rPr>
              <a:t>Справочник препаратов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657600"/>
            <a:ext cx="47425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собран отдельным скраппером из открытых источников, подсказки при заведении пачки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0439" y="3127248"/>
            <a:ext cx="5291175" cy="109728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0439" y="3127248"/>
            <a:ext cx="73152" cy="1097280"/>
          </a:xfrm>
          <a:prstGeom prst="rect">
            <a:avLst/>
          </a:prstGeom>
          <a:solidFill>
            <a:srgbClr val="555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71335" y="3328416"/>
            <a:ext cx="4742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02D69"/>
                </a:solidFill>
                <a:latin typeface="HSE Sans"/>
              </a:rPr>
              <a:t>Документация по ГОСТ 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1335" y="3657600"/>
            <a:ext cx="47425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55F77"/>
                </a:solidFill>
                <a:latin typeface="HSE Sans"/>
              </a:rPr>
              <a:t>техническое задание, пояснительная записка, руководство оператора, ПМИ, текст программы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0911535" cy="841248"/>
          </a:xfrm>
          <a:prstGeom prst="roundRect">
            <a:avLst>
              <a:gd name="adj" fmla="val 8000"/>
            </a:avLst>
          </a:prstGeom>
          <a:solidFill>
            <a:srgbClr val="A8F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42416" y="4754880"/>
            <a:ext cx="1008857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02D69"/>
                </a:solidFill>
                <a:latin typeface="HSE Sans"/>
              </a:rPr>
              <a:t>Сценарий закрыт одним окном: общий остаток и бронь под курс - без учётной записи, имени и контактов.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Куда проект идёт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55F77"/>
                </a:solidFill>
                <a:latin typeface="HSE Sans"/>
              </a:rPr>
              <a:t>Заявленный объём работ выполнен и проверен; развитие ведётся задачами в репозиториях проекта.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04288"/>
            <a:ext cx="3417722" cy="263347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2304288"/>
            <a:ext cx="3417722" cy="73152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КЛИЕНТ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72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99232"/>
            <a:ext cx="259476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расписания «через день» и «каждые N дней»: цикл вместо недельной сетки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758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0432" y="3602736"/>
            <a:ext cx="259476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правка записанных ответов и просмотр прошлых дней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793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70432" y="4206240"/>
            <a:ext cx="259476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кэш справочника: подсказки и поиск без сети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6986" y="2304288"/>
            <a:ext cx="3417722" cy="263347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86986" y="2304288"/>
            <a:ext cx="3417722" cy="73152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1306" y="2596896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B6470"/>
                </a:solidFill>
                <a:latin typeface="HSE Sans"/>
              </a:rPr>
              <a:t>СЕРВЕР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1306" y="3072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17338" y="2999232"/>
            <a:ext cx="259476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разграничение доступа политиками самой базы: второй рубеж поверх предиката в запросе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1306" y="38862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917338" y="3813048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журнал повторов в постоянном хранилище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1306" y="42793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917338" y="4206240"/>
            <a:ext cx="2594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свой предел размера тела запроса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3892" y="2304288"/>
            <a:ext cx="3417722" cy="2633472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 w="12700">
            <a:solidFill>
              <a:srgbClr val="DD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133892" y="2304288"/>
            <a:ext cx="3417722" cy="73152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08212" y="2596896"/>
            <a:ext cx="28690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02D69"/>
                </a:solidFill>
                <a:latin typeface="HSE Sans"/>
              </a:rPr>
              <a:t>ПРОДУКТ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08212" y="3072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64244" y="2999232"/>
            <a:ext cx="259476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полная поддержка экранного чтеца, проверка на TalkBack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08212" y="36758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64244" y="3602736"/>
            <a:ext cx="259476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02D69"/>
                </a:solidFill>
                <a:latin typeface="HSE Sans"/>
              </a:rPr>
              <a:t>публикация в RuStore и страница приложения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12648"/>
            <a:ext cx="118872" cy="182880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6B4A"/>
                </a:solidFill>
                <a:latin typeface="HSE Sans"/>
              </a:rPr>
              <a:t>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>
                <a:solidFill>
                  <a:srgbClr val="102D69"/>
                </a:solidFill>
                <a:latin typeface="Navigo"/>
              </a:rPr>
              <a:t>Список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B2"/>
                </a:solidFill>
                <a:latin typeface="HSE San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83664"/>
            <a:ext cx="45720" cy="38404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18288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ГОСТ 19.101-77, 19.201-78, 19.301-79, 19.401-78, 19.404-79, 19.505-79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665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Единая система программной документации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14016"/>
            <a:ext cx="45720" cy="384048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3591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Adherence to long-term therapies: evidence for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World Health Organization, 2003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44368"/>
            <a:ext cx="45720" cy="38404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" y="288950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Kotlin, Exposed, 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272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JetBrains · kotlinlang.org, jetbrains.com/help/exposed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45720" cy="384048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7824" y="341985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Jetpack Compose, Room, WorkManager, ML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657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Google · developer.android.com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45720" cy="38404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7824" y="39502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1879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Broadcom (VMware Tanzu) · docs.spring.io/spring-boot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35424"/>
            <a:ext cx="45720" cy="384048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448056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71830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PostgreSQL Global Development Group · postgresql.org/docs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65776"/>
            <a:ext cx="45720" cy="384048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7824" y="501091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Medisafe · MyTherapy · «Домашняя аптечка» · «Аптечка. Учёт медикаментов» · «Честный ЗНАК»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24865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Medisafe Inc. · smartpatient GmbH · pewaru-333 · DecSoft · ЦРПТ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96128"/>
            <a:ext cx="45720" cy="384048"/>
          </a:xfrm>
          <a:prstGeom prst="rect">
            <a:avLst/>
          </a:prstGeom>
          <a:solidFill>
            <a:srgbClr val="3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7824" y="554126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02D69"/>
                </a:solidFill>
                <a:latin typeface="HSE Sans"/>
              </a:rPr>
              <a:t>Репозитории проекта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7790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F77"/>
                </a:solidFill>
                <a:latin typeface="HSE Sans"/>
              </a:rPr>
              <a:t>github.com/Kert0n · MedAppDocs, MedAppAndroid, MedAppServer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002975" y="6199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A8F0C6"/>
                </a:solidFill>
                <a:latin typeface="HSE Sans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445752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158984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872216" y="1188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732520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445752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0158984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872216" y="190195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732520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445752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158984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872216" y="2615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732520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445752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158984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872216" y="33284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732520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445752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158984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0872216" y="4041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C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2011680"/>
            <a:ext cx="7589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Navigo"/>
              </a:rPr>
              <a:t>Демонстрация</a:t>
            </a:r>
          </a:p>
          <a:p>
            <a:pPr>
              <a:spcBef>
                <a:spcPts val="180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A8F0C6"/>
                </a:solidFill>
                <a:latin typeface="HSE Sans"/>
              </a:rPr>
              <a:t>Видео: две минуты работы приложения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43984"/>
            <a:ext cx="2011680" cy="27432"/>
          </a:xfrm>
          <a:prstGeom prst="rect">
            <a:avLst/>
          </a:prstGeom>
          <a:solidFill>
            <a:srgbClr val="1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681728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HSE Sans"/>
              </a:rPr>
              <a:t>Спасибо за внимание. Готов ответить на вопросы.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31536"/>
            <a:ext cx="31089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qr-re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68696"/>
            <a:ext cx="768096" cy="7680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37360" y="5669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02D69"/>
                </a:solidFill>
                <a:latin typeface="HSE Sans"/>
              </a:rPr>
              <a:t>Репозитории проекта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9070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B6B4A"/>
                </a:solidFill>
                <a:latin typeface="HSE Sans"/>
              </a:rPr>
              <a:t>github.com/Kert0n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S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S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